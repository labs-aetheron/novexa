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30275213" cy="42803763"/>
  <p:notesSz cx="7099300" cy="10234613"/>
  <p:defaultTextStyle>
    <a:defPPr>
      <a:defRPr lang="de-DE"/>
    </a:defPPr>
    <a:lvl1pPr marL="0" algn="l" defTabSz="2087941" rtl="0" eaLnBrk="1" latinLnBrk="0" hangingPunct="1">
      <a:defRPr sz="8200" kern="1200">
        <a:solidFill>
          <a:schemeClr val="tx1"/>
        </a:solidFill>
        <a:latin typeface="+mn-lt"/>
        <a:ea typeface="+mn-ea"/>
        <a:cs typeface="+mn-cs"/>
      </a:defRPr>
    </a:lvl1pPr>
    <a:lvl2pPr marL="2087941" algn="l" defTabSz="2087941" rtl="0" eaLnBrk="1" latinLnBrk="0" hangingPunct="1">
      <a:defRPr sz="8200" kern="1200">
        <a:solidFill>
          <a:schemeClr val="tx1"/>
        </a:solidFill>
        <a:latin typeface="+mn-lt"/>
        <a:ea typeface="+mn-ea"/>
        <a:cs typeface="+mn-cs"/>
      </a:defRPr>
    </a:lvl2pPr>
    <a:lvl3pPr marL="4175882" algn="l" defTabSz="2087941" rtl="0" eaLnBrk="1" latinLnBrk="0" hangingPunct="1">
      <a:defRPr sz="8200" kern="1200">
        <a:solidFill>
          <a:schemeClr val="tx1"/>
        </a:solidFill>
        <a:latin typeface="+mn-lt"/>
        <a:ea typeface="+mn-ea"/>
        <a:cs typeface="+mn-cs"/>
      </a:defRPr>
    </a:lvl3pPr>
    <a:lvl4pPr marL="6263823" algn="l" defTabSz="2087941" rtl="0" eaLnBrk="1" latinLnBrk="0" hangingPunct="1">
      <a:defRPr sz="8200" kern="1200">
        <a:solidFill>
          <a:schemeClr val="tx1"/>
        </a:solidFill>
        <a:latin typeface="+mn-lt"/>
        <a:ea typeface="+mn-ea"/>
        <a:cs typeface="+mn-cs"/>
      </a:defRPr>
    </a:lvl4pPr>
    <a:lvl5pPr marL="8351764" algn="l" defTabSz="2087941" rtl="0" eaLnBrk="1" latinLnBrk="0" hangingPunct="1">
      <a:defRPr sz="8200" kern="1200">
        <a:solidFill>
          <a:schemeClr val="tx1"/>
        </a:solidFill>
        <a:latin typeface="+mn-lt"/>
        <a:ea typeface="+mn-ea"/>
        <a:cs typeface="+mn-cs"/>
      </a:defRPr>
    </a:lvl5pPr>
    <a:lvl6pPr marL="10439705" algn="l" defTabSz="2087941" rtl="0" eaLnBrk="1" latinLnBrk="0" hangingPunct="1">
      <a:defRPr sz="8200" kern="1200">
        <a:solidFill>
          <a:schemeClr val="tx1"/>
        </a:solidFill>
        <a:latin typeface="+mn-lt"/>
        <a:ea typeface="+mn-ea"/>
        <a:cs typeface="+mn-cs"/>
      </a:defRPr>
    </a:lvl6pPr>
    <a:lvl7pPr marL="12527646" algn="l" defTabSz="2087941" rtl="0" eaLnBrk="1" latinLnBrk="0" hangingPunct="1">
      <a:defRPr sz="8200" kern="1200">
        <a:solidFill>
          <a:schemeClr val="tx1"/>
        </a:solidFill>
        <a:latin typeface="+mn-lt"/>
        <a:ea typeface="+mn-ea"/>
        <a:cs typeface="+mn-cs"/>
      </a:defRPr>
    </a:lvl7pPr>
    <a:lvl8pPr marL="14615587" algn="l" defTabSz="2087941" rtl="0" eaLnBrk="1" latinLnBrk="0" hangingPunct="1">
      <a:defRPr sz="8200" kern="1200">
        <a:solidFill>
          <a:schemeClr val="tx1"/>
        </a:solidFill>
        <a:latin typeface="+mn-lt"/>
        <a:ea typeface="+mn-ea"/>
        <a:cs typeface="+mn-cs"/>
      </a:defRPr>
    </a:lvl8pPr>
    <a:lvl9pPr marL="16703528" algn="l" defTabSz="208794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077">
          <p15:clr>
            <a:srgbClr val="A4A3A4"/>
          </p15:clr>
        </p15:guide>
        <p15:guide id="2" pos="1502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2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7485" autoAdjust="0"/>
    <p:restoredTop sz="97869" autoAdjust="0"/>
  </p:normalViewPr>
  <p:slideViewPr>
    <p:cSldViewPr snapToObjects="1" showGuides="1">
      <p:cViewPr varScale="1">
        <p:scale>
          <a:sx n="13" d="100"/>
          <a:sy n="13" d="100"/>
        </p:scale>
        <p:origin x="3062" y="202"/>
      </p:cViewPr>
      <p:guideLst>
        <p:guide orient="horz" pos="11077"/>
        <p:guide pos="15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de-DE"/>
          </a:p>
        </p:txBody>
      </p:sp>
      <p:sp>
        <p:nvSpPr>
          <p:cNvPr id="3" name="Datumsplatzhalter 2"/>
          <p:cNvSpPr>
            <a:spLocks noGrp="1"/>
          </p:cNvSpPr>
          <p:nvPr>
            <p:ph type="dt" idx="1"/>
          </p:nvPr>
        </p:nvSpPr>
        <p:spPr>
          <a:xfrm>
            <a:off x="4021295" y="0"/>
            <a:ext cx="3076363" cy="511731"/>
          </a:xfrm>
          <a:prstGeom prst="rect">
            <a:avLst/>
          </a:prstGeom>
        </p:spPr>
        <p:txBody>
          <a:bodyPr vert="horz" lIns="94768" tIns="47384" rIns="94768" bIns="47384" rtlCol="0"/>
          <a:lstStyle>
            <a:lvl1pPr algn="r">
              <a:defRPr sz="1200"/>
            </a:lvl1pPr>
          </a:lstStyle>
          <a:p>
            <a:fld id="{E4ECB1B5-8BB8-C14E-90E9-252058BD1AB1}" type="datetimeFigureOut">
              <a:rPr lang="de-DE" smtClean="0"/>
              <a:pPr/>
              <a:t>22.11.2025</a:t>
            </a:fld>
            <a:endParaRPr lang="de-DE"/>
          </a:p>
        </p:txBody>
      </p:sp>
      <p:sp>
        <p:nvSpPr>
          <p:cNvPr id="4" name="Folienbildplatzhalter 3"/>
          <p:cNvSpPr>
            <a:spLocks noGrp="1" noRot="1" noChangeAspect="1"/>
          </p:cNvSpPr>
          <p:nvPr>
            <p:ph type="sldImg" idx="2"/>
          </p:nvPr>
        </p:nvSpPr>
        <p:spPr>
          <a:xfrm>
            <a:off x="2192338" y="768350"/>
            <a:ext cx="2714625" cy="3836988"/>
          </a:xfrm>
          <a:prstGeom prst="rect">
            <a:avLst/>
          </a:prstGeom>
          <a:noFill/>
          <a:ln w="12700">
            <a:solidFill>
              <a:prstClr val="black"/>
            </a:solidFill>
          </a:ln>
        </p:spPr>
        <p:txBody>
          <a:bodyPr vert="horz" lIns="94768" tIns="47384" rIns="94768" bIns="47384" rtlCol="0" anchor="ctr"/>
          <a:lstStyle/>
          <a:p>
            <a:endParaRPr lang="de-DE"/>
          </a:p>
        </p:txBody>
      </p:sp>
      <p:sp>
        <p:nvSpPr>
          <p:cNvPr id="5" name="Notizenplatzhalter 4"/>
          <p:cNvSpPr>
            <a:spLocks noGrp="1"/>
          </p:cNvSpPr>
          <p:nvPr>
            <p:ph type="body" sz="quarter" idx="3"/>
          </p:nvPr>
        </p:nvSpPr>
        <p:spPr>
          <a:xfrm>
            <a:off x="709931" y="4861442"/>
            <a:ext cx="5679440" cy="4605576"/>
          </a:xfrm>
          <a:prstGeom prst="rect">
            <a:avLst/>
          </a:prstGeom>
        </p:spPr>
        <p:txBody>
          <a:bodyPr vert="horz" lIns="94768" tIns="47384" rIns="94768" bIns="47384"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721106"/>
            <a:ext cx="3076363" cy="511731"/>
          </a:xfrm>
          <a:prstGeom prst="rect">
            <a:avLst/>
          </a:prstGeom>
        </p:spPr>
        <p:txBody>
          <a:bodyPr vert="horz" lIns="94768" tIns="47384" rIns="94768" bIns="47384" rtlCol="0" anchor="b"/>
          <a:lstStyle>
            <a:lvl1pPr algn="l">
              <a:defRPr sz="1200"/>
            </a:lvl1pPr>
          </a:lstStyle>
          <a:p>
            <a:endParaRPr lang="de-DE"/>
          </a:p>
        </p:txBody>
      </p:sp>
      <p:sp>
        <p:nvSpPr>
          <p:cNvPr id="7" name="Foliennummernplatzhalter 6"/>
          <p:cNvSpPr>
            <a:spLocks noGrp="1"/>
          </p:cNvSpPr>
          <p:nvPr>
            <p:ph type="sldNum" sz="quarter" idx="5"/>
          </p:nvPr>
        </p:nvSpPr>
        <p:spPr>
          <a:xfrm>
            <a:off x="4021295" y="9721106"/>
            <a:ext cx="3076363" cy="511731"/>
          </a:xfrm>
          <a:prstGeom prst="rect">
            <a:avLst/>
          </a:prstGeom>
        </p:spPr>
        <p:txBody>
          <a:bodyPr vert="horz" lIns="94768" tIns="47384" rIns="94768" bIns="47384" rtlCol="0" anchor="b"/>
          <a:lstStyle>
            <a:lvl1pPr algn="r">
              <a:defRPr sz="1200"/>
            </a:lvl1pPr>
          </a:lstStyle>
          <a:p>
            <a:fld id="{DA9C43D3-354A-9946-8948-F039A5B14170}" type="slidenum">
              <a:rPr lang="de-DE" smtClean="0"/>
              <a:pPr/>
              <a:t>‹#›</a:t>
            </a:fld>
            <a:endParaRPr lang="de-DE"/>
          </a:p>
        </p:txBody>
      </p:sp>
    </p:spTree>
    <p:extLst>
      <p:ext uri="{BB962C8B-B14F-4D97-AF65-F5344CB8AC3E}">
        <p14:creationId xmlns:p14="http://schemas.microsoft.com/office/powerpoint/2010/main" val="150096438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DA9C43D3-354A-9946-8948-F039A5B14170}" type="slidenum">
              <a:rPr lang="de-DE" smtClean="0"/>
              <a:pPr/>
              <a:t>1</a:t>
            </a:fld>
            <a:endParaRPr lang="de-DE"/>
          </a:p>
        </p:txBody>
      </p:sp>
    </p:spTree>
    <p:extLst>
      <p:ext uri="{BB962C8B-B14F-4D97-AF65-F5344CB8AC3E}">
        <p14:creationId xmlns:p14="http://schemas.microsoft.com/office/powerpoint/2010/main" val="1727874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107406" y="3723481"/>
            <a:ext cx="27127200" cy="1371600"/>
          </a:xfrm>
          <a:prstGeom prst="rect">
            <a:avLst/>
          </a:prstGeom>
        </p:spPr>
        <p:txBody>
          <a:bodyPr vert="horz" lIns="0" anchor="ctr" anchorCtr="0"/>
          <a:lstStyle>
            <a:lvl1pPr marL="304800" indent="0" algn="l">
              <a:defRPr sz="6000" baseline="0">
                <a:latin typeface="Lucida Sans Bold"/>
              </a:defRPr>
            </a:lvl1pPr>
          </a:lstStyle>
          <a:p>
            <a:r>
              <a:rPr lang="de-DE" dirty="0"/>
              <a:t>Mastertitelformat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2087941" rtl="0" eaLnBrk="1" latinLnBrk="0" hangingPunct="1">
        <a:spcBef>
          <a:spcPct val="0"/>
        </a:spcBef>
        <a:buNone/>
        <a:defRPr sz="20100" kern="1200">
          <a:solidFill>
            <a:schemeClr val="tx1"/>
          </a:solidFill>
          <a:latin typeface="+mj-lt"/>
          <a:ea typeface="+mj-ea"/>
          <a:cs typeface="+mj-cs"/>
        </a:defRPr>
      </a:lvl1pPr>
    </p:titleStyle>
    <p:bodyStyle>
      <a:lvl1pPr marL="1565956" indent="-1565956" algn="l" defTabSz="2087941" rtl="0" eaLnBrk="1" latinLnBrk="0" hangingPunct="1">
        <a:spcBef>
          <a:spcPct val="20000"/>
        </a:spcBef>
        <a:buFont typeface="Arial"/>
        <a:buChar char="•"/>
        <a:defRPr sz="14600" kern="1200">
          <a:solidFill>
            <a:schemeClr val="tx1"/>
          </a:solidFill>
          <a:latin typeface="+mn-lt"/>
          <a:ea typeface="+mn-ea"/>
          <a:cs typeface="+mn-cs"/>
        </a:defRPr>
      </a:lvl1pPr>
      <a:lvl2pPr marL="3392904" indent="-1304963" algn="l" defTabSz="2087941" rtl="0" eaLnBrk="1" latinLnBrk="0" hangingPunct="1">
        <a:spcBef>
          <a:spcPct val="20000"/>
        </a:spcBef>
        <a:buFont typeface="Arial"/>
        <a:buChar char="–"/>
        <a:defRPr sz="12800" kern="1200">
          <a:solidFill>
            <a:schemeClr val="tx1"/>
          </a:solidFill>
          <a:latin typeface="+mn-lt"/>
          <a:ea typeface="+mn-ea"/>
          <a:cs typeface="+mn-cs"/>
        </a:defRPr>
      </a:lvl2pPr>
      <a:lvl3pPr marL="5219852" indent="-1043970" algn="l" defTabSz="2087941" rtl="0" eaLnBrk="1" latinLnBrk="0" hangingPunct="1">
        <a:spcBef>
          <a:spcPct val="20000"/>
        </a:spcBef>
        <a:buFont typeface="Arial"/>
        <a:buChar char="•"/>
        <a:defRPr sz="11000" kern="1200">
          <a:solidFill>
            <a:schemeClr val="tx1"/>
          </a:solidFill>
          <a:latin typeface="+mn-lt"/>
          <a:ea typeface="+mn-ea"/>
          <a:cs typeface="+mn-cs"/>
        </a:defRPr>
      </a:lvl3pPr>
      <a:lvl4pPr marL="7307793" indent="-1043970" algn="l" defTabSz="2087941" rtl="0" eaLnBrk="1" latinLnBrk="0" hangingPunct="1">
        <a:spcBef>
          <a:spcPct val="20000"/>
        </a:spcBef>
        <a:buFont typeface="Arial"/>
        <a:buChar char="–"/>
        <a:defRPr sz="9100" kern="1200">
          <a:solidFill>
            <a:schemeClr val="tx1"/>
          </a:solidFill>
          <a:latin typeface="+mn-lt"/>
          <a:ea typeface="+mn-ea"/>
          <a:cs typeface="+mn-cs"/>
        </a:defRPr>
      </a:lvl4pPr>
      <a:lvl5pPr marL="9395734" indent="-1043970" algn="l" defTabSz="2087941" rtl="0" eaLnBrk="1" latinLnBrk="0" hangingPunct="1">
        <a:spcBef>
          <a:spcPct val="20000"/>
        </a:spcBef>
        <a:buFont typeface="Arial"/>
        <a:buChar char="»"/>
        <a:defRPr sz="9100" kern="1200">
          <a:solidFill>
            <a:schemeClr val="tx1"/>
          </a:solidFill>
          <a:latin typeface="+mn-lt"/>
          <a:ea typeface="+mn-ea"/>
          <a:cs typeface="+mn-cs"/>
        </a:defRPr>
      </a:lvl5pPr>
      <a:lvl6pPr marL="11483675" indent="-1043970" algn="l" defTabSz="2087941" rtl="0" eaLnBrk="1" latinLnBrk="0" hangingPunct="1">
        <a:spcBef>
          <a:spcPct val="20000"/>
        </a:spcBef>
        <a:buFont typeface="Arial"/>
        <a:buChar char="•"/>
        <a:defRPr sz="9100" kern="1200">
          <a:solidFill>
            <a:schemeClr val="tx1"/>
          </a:solidFill>
          <a:latin typeface="+mn-lt"/>
          <a:ea typeface="+mn-ea"/>
          <a:cs typeface="+mn-cs"/>
        </a:defRPr>
      </a:lvl6pPr>
      <a:lvl7pPr marL="13571616" indent="-1043970" algn="l" defTabSz="2087941" rtl="0" eaLnBrk="1" latinLnBrk="0" hangingPunct="1">
        <a:spcBef>
          <a:spcPct val="20000"/>
        </a:spcBef>
        <a:buFont typeface="Arial"/>
        <a:buChar char="•"/>
        <a:defRPr sz="9100" kern="1200">
          <a:solidFill>
            <a:schemeClr val="tx1"/>
          </a:solidFill>
          <a:latin typeface="+mn-lt"/>
          <a:ea typeface="+mn-ea"/>
          <a:cs typeface="+mn-cs"/>
        </a:defRPr>
      </a:lvl7pPr>
      <a:lvl8pPr marL="15659557" indent="-1043970" algn="l" defTabSz="2087941" rtl="0" eaLnBrk="1" latinLnBrk="0" hangingPunct="1">
        <a:spcBef>
          <a:spcPct val="20000"/>
        </a:spcBef>
        <a:buFont typeface="Arial"/>
        <a:buChar char="•"/>
        <a:defRPr sz="9100" kern="1200">
          <a:solidFill>
            <a:schemeClr val="tx1"/>
          </a:solidFill>
          <a:latin typeface="+mn-lt"/>
          <a:ea typeface="+mn-ea"/>
          <a:cs typeface="+mn-cs"/>
        </a:defRPr>
      </a:lvl8pPr>
      <a:lvl9pPr marL="17747498" indent="-1043970" algn="l" defTabSz="2087941" rtl="0" eaLnBrk="1" latinLnBrk="0" hangingPunct="1">
        <a:spcBef>
          <a:spcPct val="20000"/>
        </a:spcBef>
        <a:buFont typeface="Arial"/>
        <a:buChar char="•"/>
        <a:defRPr sz="9100" kern="1200">
          <a:solidFill>
            <a:schemeClr val="tx1"/>
          </a:solidFill>
          <a:latin typeface="+mn-lt"/>
          <a:ea typeface="+mn-ea"/>
          <a:cs typeface="+mn-cs"/>
        </a:defRPr>
      </a:lvl9pPr>
    </p:bodyStyle>
    <p:otherStyle>
      <a:defPPr>
        <a:defRPr lang="de-DE"/>
      </a:defPPr>
      <a:lvl1pPr marL="0" algn="l" defTabSz="2087941" rtl="0" eaLnBrk="1" latinLnBrk="0" hangingPunct="1">
        <a:defRPr sz="8200" kern="1200">
          <a:solidFill>
            <a:schemeClr val="tx1"/>
          </a:solidFill>
          <a:latin typeface="+mn-lt"/>
          <a:ea typeface="+mn-ea"/>
          <a:cs typeface="+mn-cs"/>
        </a:defRPr>
      </a:lvl1pPr>
      <a:lvl2pPr marL="2087941" algn="l" defTabSz="2087941" rtl="0" eaLnBrk="1" latinLnBrk="0" hangingPunct="1">
        <a:defRPr sz="8200" kern="1200">
          <a:solidFill>
            <a:schemeClr val="tx1"/>
          </a:solidFill>
          <a:latin typeface="+mn-lt"/>
          <a:ea typeface="+mn-ea"/>
          <a:cs typeface="+mn-cs"/>
        </a:defRPr>
      </a:lvl2pPr>
      <a:lvl3pPr marL="4175882" algn="l" defTabSz="2087941" rtl="0" eaLnBrk="1" latinLnBrk="0" hangingPunct="1">
        <a:defRPr sz="8200" kern="1200">
          <a:solidFill>
            <a:schemeClr val="tx1"/>
          </a:solidFill>
          <a:latin typeface="+mn-lt"/>
          <a:ea typeface="+mn-ea"/>
          <a:cs typeface="+mn-cs"/>
        </a:defRPr>
      </a:lvl3pPr>
      <a:lvl4pPr marL="6263823" algn="l" defTabSz="2087941" rtl="0" eaLnBrk="1" latinLnBrk="0" hangingPunct="1">
        <a:defRPr sz="8200" kern="1200">
          <a:solidFill>
            <a:schemeClr val="tx1"/>
          </a:solidFill>
          <a:latin typeface="+mn-lt"/>
          <a:ea typeface="+mn-ea"/>
          <a:cs typeface="+mn-cs"/>
        </a:defRPr>
      </a:lvl4pPr>
      <a:lvl5pPr marL="8351764" algn="l" defTabSz="2087941" rtl="0" eaLnBrk="1" latinLnBrk="0" hangingPunct="1">
        <a:defRPr sz="8200" kern="1200">
          <a:solidFill>
            <a:schemeClr val="tx1"/>
          </a:solidFill>
          <a:latin typeface="+mn-lt"/>
          <a:ea typeface="+mn-ea"/>
          <a:cs typeface="+mn-cs"/>
        </a:defRPr>
      </a:lvl5pPr>
      <a:lvl6pPr marL="10439705" algn="l" defTabSz="2087941" rtl="0" eaLnBrk="1" latinLnBrk="0" hangingPunct="1">
        <a:defRPr sz="8200" kern="1200">
          <a:solidFill>
            <a:schemeClr val="tx1"/>
          </a:solidFill>
          <a:latin typeface="+mn-lt"/>
          <a:ea typeface="+mn-ea"/>
          <a:cs typeface="+mn-cs"/>
        </a:defRPr>
      </a:lvl6pPr>
      <a:lvl7pPr marL="12527646" algn="l" defTabSz="2087941" rtl="0" eaLnBrk="1" latinLnBrk="0" hangingPunct="1">
        <a:defRPr sz="8200" kern="1200">
          <a:solidFill>
            <a:schemeClr val="tx1"/>
          </a:solidFill>
          <a:latin typeface="+mn-lt"/>
          <a:ea typeface="+mn-ea"/>
          <a:cs typeface="+mn-cs"/>
        </a:defRPr>
      </a:lvl7pPr>
      <a:lvl8pPr marL="14615587" algn="l" defTabSz="2087941" rtl="0" eaLnBrk="1" latinLnBrk="0" hangingPunct="1">
        <a:defRPr sz="8200" kern="1200">
          <a:solidFill>
            <a:schemeClr val="tx1"/>
          </a:solidFill>
          <a:latin typeface="+mn-lt"/>
          <a:ea typeface="+mn-ea"/>
          <a:cs typeface="+mn-cs"/>
        </a:defRPr>
      </a:lvl8pPr>
      <a:lvl9pPr marL="16703528" algn="l" defTabSz="208794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4.png"/><Relationship Id="rId18" Type="http://schemas.openxmlformats.org/officeDocument/2006/relationships/image" Target="../media/image9.jpg"/><Relationship Id="rId3" Type="http://schemas.openxmlformats.org/officeDocument/2006/relationships/image" Target="../media/image1.png"/><Relationship Id="rId21" Type="http://schemas.openxmlformats.org/officeDocument/2006/relationships/image" Target="../media/image12.png"/><Relationship Id="rId12" Type="http://schemas.openxmlformats.org/officeDocument/2006/relationships/image" Target="../media/image9.png"/><Relationship Id="rId17" Type="http://schemas.openxmlformats.org/officeDocument/2006/relationships/image" Target="../media/image8.jpg"/><Relationship Id="rId2" Type="http://schemas.openxmlformats.org/officeDocument/2006/relationships/notesSlide" Target="../notesSlides/notesSlide1.xml"/><Relationship Id="rId16" Type="http://schemas.openxmlformats.org/officeDocument/2006/relationships/image" Target="../media/image7.png"/><Relationship Id="rId20" Type="http://schemas.openxmlformats.org/officeDocument/2006/relationships/image" Target="../media/image11.jpeg"/><Relationship Id="rId1" Type="http://schemas.openxmlformats.org/officeDocument/2006/relationships/slideLayout" Target="../slideLayouts/slideLayout1.xml"/><Relationship Id="rId24" Type="http://schemas.openxmlformats.org/officeDocument/2006/relationships/image" Target="../media/image15.png"/><Relationship Id="rId5" Type="http://schemas.openxmlformats.org/officeDocument/2006/relationships/image" Target="../media/image3.jpg"/><Relationship Id="rId15" Type="http://schemas.openxmlformats.org/officeDocument/2006/relationships/image" Target="../media/image6.png"/><Relationship Id="rId23" Type="http://schemas.openxmlformats.org/officeDocument/2006/relationships/image" Target="../media/image14.png"/><Relationship Id="rId19" Type="http://schemas.openxmlformats.org/officeDocument/2006/relationships/image" Target="../media/image10.jpg"/><Relationship Id="rId4" Type="http://schemas.openxmlformats.org/officeDocument/2006/relationships/image" Target="../media/image2.jpeg"/><Relationship Id="rId14" Type="http://schemas.openxmlformats.org/officeDocument/2006/relationships/image" Target="../media/image5.png"/><Relationship Id="rId2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platzhalter 5">
            <a:extLst>
              <a:ext uri="{FF2B5EF4-FFF2-40B4-BE49-F238E27FC236}">
                <a16:creationId xmlns:a16="http://schemas.microsoft.com/office/drawing/2014/main" id="{33C903E1-DE70-65A1-EDD6-18CF7D162DD5}"/>
              </a:ext>
            </a:extLst>
          </p:cNvPr>
          <p:cNvSpPr txBox="1">
            <a:spLocks/>
          </p:cNvSpPr>
          <p:nvPr/>
        </p:nvSpPr>
        <p:spPr>
          <a:xfrm>
            <a:off x="2058965" y="3473360"/>
            <a:ext cx="27343298" cy="2363924"/>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endParaRPr kumimoji="0" lang="de-DE" sz="54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2" name="Titel 1"/>
          <p:cNvSpPr>
            <a:spLocks noGrp="1"/>
          </p:cNvSpPr>
          <p:nvPr>
            <p:ph type="ctrTitle"/>
          </p:nvPr>
        </p:nvSpPr>
        <p:spPr>
          <a:xfrm>
            <a:off x="2010469" y="3736199"/>
            <a:ext cx="28264743" cy="1371600"/>
          </a:xfrm>
        </p:spPr>
        <p:txBody>
          <a:bodyPr/>
          <a:lstStyle/>
          <a:p>
            <a:pPr algn="ctr"/>
            <a:r>
              <a:rPr lang="en-US" sz="5400" b="1" dirty="0">
                <a:solidFill>
                  <a:schemeClr val="bg1"/>
                </a:solidFill>
                <a:latin typeface="Times New Roman" pitchFamily="18" charset="0"/>
                <a:cs typeface="Times New Roman" pitchFamily="18" charset="0"/>
              </a:rPr>
              <a:t>Design and Development of a 3D-Printed Hexapod Robot for Terrain-Adaptive Locomotion and Autonomous Navigation</a:t>
            </a:r>
            <a:endParaRPr lang="de-DE" sz="5400" b="1" dirty="0">
              <a:solidFill>
                <a:schemeClr val="bg1"/>
              </a:solidFill>
              <a:latin typeface="Times New Roman" pitchFamily="18" charset="0"/>
              <a:cs typeface="Times New Roman" pitchFamily="18" charset="0"/>
            </a:endParaRPr>
          </a:p>
        </p:txBody>
      </p:sp>
      <p:sp>
        <p:nvSpPr>
          <p:cNvPr id="3" name="Untertitel 2"/>
          <p:cNvSpPr>
            <a:spLocks noGrp="1"/>
          </p:cNvSpPr>
          <p:nvPr>
            <p:ph type="subTitle" idx="4294967295"/>
          </p:nvPr>
        </p:nvSpPr>
        <p:spPr>
          <a:xfrm>
            <a:off x="2046131" y="5169756"/>
            <a:ext cx="27127200" cy="914400"/>
          </a:xfrm>
          <a:prstGeom prst="rect">
            <a:avLst/>
          </a:prstGeom>
        </p:spPr>
        <p:txBody>
          <a:bodyPr vert="horz" lIns="76200" rIns="76200" anchor="t" anchorCtr="0"/>
          <a:lstStyle/>
          <a:p>
            <a:pPr marL="304800" indent="0" algn="ctr">
              <a:spcBef>
                <a:spcPts val="0"/>
              </a:spcBef>
              <a:buNone/>
            </a:pPr>
            <a:r>
              <a:rPr lang="de-DE" sz="3200" dirty="0">
                <a:solidFill>
                  <a:schemeClr val="bg1"/>
                </a:solidFill>
                <a:latin typeface="Times New Roman" pitchFamily="18" charset="0"/>
                <a:cs typeface="Times New Roman" pitchFamily="18" charset="0"/>
              </a:rPr>
              <a:t>Aditya Jadav, Archie Veera, Bilal Sabugar, Rabinder Henry</a:t>
            </a:r>
          </a:p>
        </p:txBody>
      </p:sp>
      <p:sp>
        <p:nvSpPr>
          <p:cNvPr id="4" name="Textplatzhalter 5"/>
          <p:cNvSpPr txBox="1">
            <a:spLocks/>
          </p:cNvSpPr>
          <p:nvPr/>
        </p:nvSpPr>
        <p:spPr>
          <a:xfrm>
            <a:off x="2106612" y="6019800"/>
            <a:ext cx="14102564"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kumimoji="0" lang="de-DE" sz="6000" b="1"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Introduction</a:t>
            </a:r>
            <a:r>
              <a:rPr kumimoji="0" lang="de-DE" sz="6000" b="1" i="0" u="none" strike="noStrike" kern="1200" cap="none" spc="0" normalizeH="0" noProof="0" dirty="0">
                <a:ln>
                  <a:noFill/>
                </a:ln>
                <a:solidFill>
                  <a:schemeClr val="bg1"/>
                </a:solidFill>
                <a:effectLst/>
                <a:uLnTx/>
                <a:uFillTx/>
                <a:latin typeface="Times New Roman" pitchFamily="18" charset="0"/>
                <a:cs typeface="Times New Roman" pitchFamily="18" charset="0"/>
              </a:rPr>
              <a:t> </a:t>
            </a:r>
            <a:endParaRPr kumimoji="0" lang="de-DE" sz="60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7" name="Textplatzhalter 5"/>
          <p:cNvSpPr txBox="1">
            <a:spLocks/>
          </p:cNvSpPr>
          <p:nvPr/>
        </p:nvSpPr>
        <p:spPr>
          <a:xfrm>
            <a:off x="16352052" y="6019800"/>
            <a:ext cx="13001716"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lvl="0">
              <a:spcBef>
                <a:spcPct val="20000"/>
              </a:spcBef>
              <a:defRPr/>
            </a:pPr>
            <a:r>
              <a:rPr lang="en-IN" b="1" dirty="0">
                <a:solidFill>
                  <a:schemeClr val="bg1"/>
                </a:solidFill>
                <a:latin typeface="Times New Roman" panose="02020603050405020304" pitchFamily="18" charset="0"/>
                <a:cs typeface="Times New Roman" panose="02020603050405020304" pitchFamily="18" charset="0"/>
              </a:rPr>
              <a:t>Kinematics and Gait Design</a:t>
            </a:r>
            <a:endParaRPr kumimoji="0" lang="de-DE" sz="60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itchFamily="18" charset="0"/>
            </a:endParaRPr>
          </a:p>
        </p:txBody>
      </p:sp>
      <p:sp>
        <p:nvSpPr>
          <p:cNvPr id="11" name="Textplatzhalter 5"/>
          <p:cNvSpPr txBox="1">
            <a:spLocks/>
          </p:cNvSpPr>
          <p:nvPr/>
        </p:nvSpPr>
        <p:spPr>
          <a:xfrm>
            <a:off x="11190195" y="19558787"/>
            <a:ext cx="7583911"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err="1">
                <a:solidFill>
                  <a:schemeClr val="bg1"/>
                </a:solidFill>
                <a:latin typeface="Times New Roman" pitchFamily="18" charset="0"/>
                <a:cs typeface="Times New Roman" pitchFamily="18" charset="0"/>
              </a:rPr>
              <a:t>Conception</a:t>
            </a:r>
            <a:endParaRPr kumimoji="0" lang="de-DE"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59" name="Textplatzhalter 5"/>
          <p:cNvSpPr txBox="1">
            <a:spLocks/>
          </p:cNvSpPr>
          <p:nvPr/>
        </p:nvSpPr>
        <p:spPr>
          <a:xfrm>
            <a:off x="19022551" y="34599588"/>
            <a:ext cx="10277622" cy="967753"/>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a:solidFill>
                  <a:schemeClr val="bg1"/>
                </a:solidFill>
                <a:latin typeface="Times New Roman" pitchFamily="18" charset="0"/>
                <a:cs typeface="Times New Roman" pitchFamily="18" charset="0"/>
              </a:rPr>
              <a:t>Researchers</a:t>
            </a:r>
            <a:endParaRPr kumimoji="0" lang="de-DE" sz="60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200" name="Rechteck 199"/>
          <p:cNvSpPr/>
          <p:nvPr/>
        </p:nvSpPr>
        <p:spPr bwMode="auto">
          <a:xfrm>
            <a:off x="18297362" y="34373144"/>
            <a:ext cx="353668" cy="279797"/>
          </a:xfrm>
          <a:prstGeom prst="rect">
            <a:avLst/>
          </a:prstGeom>
          <a:solidFill>
            <a:srgbClr val="FFFF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2400" b="0" i="0" u="none" strike="noStrike" kern="0" cap="none" spc="0" normalizeH="0" baseline="0" noProof="0">
              <a:ln>
                <a:noFill/>
              </a:ln>
              <a:solidFill>
                <a:srgbClr val="000000"/>
              </a:solidFill>
              <a:effectLst/>
              <a:uLnTx/>
              <a:uFillTx/>
              <a:latin typeface="Times New Roman" pitchFamily="18" charset="0"/>
              <a:ea typeface="ヒラギノ角ゴ Pro W3" pitchFamily="-111" charset="-128"/>
              <a:cs typeface="Times New Roman" pitchFamily="18" charset="0"/>
            </a:endParaRPr>
          </a:p>
        </p:txBody>
      </p:sp>
      <p:sp>
        <p:nvSpPr>
          <p:cNvPr id="162" name="Textplatzhalter 5"/>
          <p:cNvSpPr txBox="1">
            <a:spLocks/>
          </p:cNvSpPr>
          <p:nvPr/>
        </p:nvSpPr>
        <p:spPr>
          <a:xfrm>
            <a:off x="2095848" y="33618574"/>
            <a:ext cx="16619941"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a:solidFill>
                  <a:schemeClr val="bg1"/>
                </a:solidFill>
                <a:latin typeface="Times New Roman" pitchFamily="18" charset="0"/>
                <a:cs typeface="Times New Roman" pitchFamily="18" charset="0"/>
              </a:rPr>
              <a:t>Summary &amp; Future Perspective</a:t>
            </a:r>
            <a:endParaRPr kumimoji="0" lang="de-DE" sz="60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100" name="Textplatzhalter 5"/>
          <p:cNvSpPr txBox="1">
            <a:spLocks/>
          </p:cNvSpPr>
          <p:nvPr/>
        </p:nvSpPr>
        <p:spPr>
          <a:xfrm>
            <a:off x="1239838" y="6019800"/>
            <a:ext cx="558504"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endParaRPr kumimoji="0" lang="de-DE" sz="6000" b="1"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02" name="Textplatzhalter 5"/>
          <p:cNvSpPr txBox="1">
            <a:spLocks/>
          </p:cNvSpPr>
          <p:nvPr/>
        </p:nvSpPr>
        <p:spPr>
          <a:xfrm>
            <a:off x="19022550" y="19609323"/>
            <a:ext cx="10212055"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a:solidFill>
                  <a:schemeClr val="bg1"/>
                </a:solidFill>
                <a:latin typeface="Times New Roman" pitchFamily="18" charset="0"/>
                <a:cs typeface="Times New Roman" pitchFamily="18" charset="0"/>
              </a:rPr>
              <a:t>Control System</a:t>
            </a:r>
            <a:endParaRPr kumimoji="0" lang="de-DE" sz="60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146" name="Rechteck 145"/>
          <p:cNvSpPr/>
          <p:nvPr/>
        </p:nvSpPr>
        <p:spPr>
          <a:xfrm>
            <a:off x="19022550" y="19666467"/>
            <a:ext cx="10235293" cy="6343926"/>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sp>
        <p:nvSpPr>
          <p:cNvPr id="148" name="Rechteck 147"/>
          <p:cNvSpPr/>
          <p:nvPr/>
        </p:nvSpPr>
        <p:spPr>
          <a:xfrm>
            <a:off x="16352052" y="6075425"/>
            <a:ext cx="12930278" cy="13183316"/>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sp>
        <p:nvSpPr>
          <p:cNvPr id="149" name="Rechteck 148"/>
          <p:cNvSpPr/>
          <p:nvPr/>
        </p:nvSpPr>
        <p:spPr>
          <a:xfrm>
            <a:off x="2136212" y="6075421"/>
            <a:ext cx="14001526" cy="13183320"/>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sp>
        <p:nvSpPr>
          <p:cNvPr id="150" name="Textplatzhalter 5"/>
          <p:cNvSpPr txBox="1">
            <a:spLocks/>
          </p:cNvSpPr>
          <p:nvPr/>
        </p:nvSpPr>
        <p:spPr>
          <a:xfrm>
            <a:off x="1300581" y="19487349"/>
            <a:ext cx="558504"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endParaRPr kumimoji="0" lang="de-DE" sz="6000" b="1"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sp>
        <p:nvSpPr>
          <p:cNvPr id="151" name="Textplatzhalter 5"/>
          <p:cNvSpPr txBox="1">
            <a:spLocks/>
          </p:cNvSpPr>
          <p:nvPr/>
        </p:nvSpPr>
        <p:spPr>
          <a:xfrm>
            <a:off x="1239838" y="33598642"/>
            <a:ext cx="558504"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endParaRPr kumimoji="0" lang="de-DE" sz="6000" b="1"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sp>
        <p:nvSpPr>
          <p:cNvPr id="152" name="Rechteck 151"/>
          <p:cNvSpPr/>
          <p:nvPr/>
        </p:nvSpPr>
        <p:spPr>
          <a:xfrm>
            <a:off x="18982136" y="34581142"/>
            <a:ext cx="10318036" cy="6478924"/>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sp>
        <p:nvSpPr>
          <p:cNvPr id="154" name="Rechteck 153"/>
          <p:cNvSpPr/>
          <p:nvPr/>
        </p:nvSpPr>
        <p:spPr>
          <a:xfrm>
            <a:off x="2064689" y="33654403"/>
            <a:ext cx="16651100" cy="7405662"/>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solidFill>
                <a:schemeClr val="bg1"/>
              </a:solidFill>
              <a:latin typeface="Times New Roman" pitchFamily="18" charset="0"/>
              <a:cs typeface="Times New Roman" pitchFamily="18" charset="0"/>
            </a:endParaRPr>
          </a:p>
        </p:txBody>
      </p:sp>
      <p:sp>
        <p:nvSpPr>
          <p:cNvPr id="98" name="Textfeld 97"/>
          <p:cNvSpPr txBox="1"/>
          <p:nvPr/>
        </p:nvSpPr>
        <p:spPr>
          <a:xfrm>
            <a:off x="2064688" y="40628017"/>
            <a:ext cx="27242665" cy="432048"/>
          </a:xfrm>
          <a:prstGeom prst="rect">
            <a:avLst/>
          </a:prstGeom>
          <a:solidFill>
            <a:srgbClr val="322F8C"/>
          </a:solidFill>
        </p:spPr>
        <p:txBody>
          <a:bodyPr vert="horz" lIns="0" tIns="0" rIns="0" bIns="0" anchor="ctr" anchorCtr="0"/>
          <a:lstStyle>
            <a:defPPr>
              <a:defRPr lang="de-DE"/>
            </a:defPPr>
            <a:lvl1pPr marL="304800" lvl="0">
              <a:spcBef>
                <a:spcPct val="20000"/>
              </a:spcBef>
              <a:buNone/>
              <a:defRPr sz="2600" b="0" i="0">
                <a:latin typeface="Lucida Sans"/>
                <a:cs typeface="AGaramond BoldItalic"/>
              </a:defRPr>
            </a:lvl1pPr>
            <a:lvl2pPr>
              <a:buNone/>
            </a:lvl2pPr>
            <a:lvl3pPr>
              <a:buNone/>
            </a:lvl3pPr>
            <a:lvl4pPr>
              <a:buNone/>
            </a:lvl4pPr>
            <a:lvl5pPr>
              <a:buNone/>
            </a:lvl5pPr>
          </a:lstStyle>
          <a:p>
            <a:pPr marL="0" lvl="0" defTabSz="914400">
              <a:spcBef>
                <a:spcPts val="0"/>
              </a:spcBef>
              <a:defRPr/>
            </a:pPr>
            <a:r>
              <a:rPr lang="de-DE" sz="2800" b="1" kern="0" dirty="0">
                <a:solidFill>
                  <a:schemeClr val="bg1"/>
                </a:solidFill>
                <a:latin typeface="Times New Roman" pitchFamily="18" charset="0"/>
                <a:cs typeface="Times New Roman" pitchFamily="18" charset="0"/>
              </a:rPr>
              <a:t>References</a:t>
            </a:r>
          </a:p>
        </p:txBody>
      </p:sp>
      <p:sp>
        <p:nvSpPr>
          <p:cNvPr id="147" name="Textfeld 146"/>
          <p:cNvSpPr txBox="1"/>
          <p:nvPr/>
        </p:nvSpPr>
        <p:spPr>
          <a:xfrm>
            <a:off x="1239838" y="40628016"/>
            <a:ext cx="632995" cy="432050"/>
          </a:xfrm>
          <a:prstGeom prst="rect">
            <a:avLst/>
          </a:prstGeom>
          <a:solidFill>
            <a:srgbClr val="322F8C"/>
          </a:solidFill>
        </p:spPr>
        <p:txBody>
          <a:bodyPr vert="horz" lIns="0" tIns="0" rIns="0" bIns="0" anchor="ctr" anchorCtr="0"/>
          <a:lstStyle>
            <a:defPPr>
              <a:defRPr lang="de-DE"/>
            </a:defPPr>
            <a:lvl1pPr marL="304800" lvl="0">
              <a:spcBef>
                <a:spcPct val="20000"/>
              </a:spcBef>
              <a:buNone/>
              <a:defRPr sz="2600" b="0" i="0">
                <a:latin typeface="Lucida Sans"/>
                <a:cs typeface="AGaramond BoldItalic"/>
              </a:defRPr>
            </a:lvl1pPr>
            <a:lvl2pPr>
              <a:buNone/>
            </a:lvl2pPr>
            <a:lvl3pPr>
              <a:buNone/>
            </a:lvl3pPr>
            <a:lvl4pPr>
              <a:buNone/>
            </a:lvl4pPr>
            <a:lvl5pPr>
              <a:buNone/>
            </a:lvl5pPr>
          </a:lstStyle>
          <a:p>
            <a:pPr marL="0" lvl="0" defTabSz="914400">
              <a:spcBef>
                <a:spcPts val="0"/>
              </a:spcBef>
              <a:defRPr/>
            </a:pPr>
            <a:endParaRPr lang="de-DE" sz="2800" kern="0">
              <a:solidFill>
                <a:sysClr val="windowText" lastClr="000000"/>
              </a:solidFill>
              <a:latin typeface="Times New Roman" pitchFamily="18" charset="0"/>
              <a:cs typeface="Times New Roman" pitchFamily="18" charset="0"/>
            </a:endParaRPr>
          </a:p>
        </p:txBody>
      </p:sp>
      <p:sp>
        <p:nvSpPr>
          <p:cNvPr id="6" name="Rechteck 5"/>
          <p:cNvSpPr/>
          <p:nvPr/>
        </p:nvSpPr>
        <p:spPr>
          <a:xfrm>
            <a:off x="11229524" y="19615931"/>
            <a:ext cx="7486266" cy="13644658"/>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sp>
        <p:nvSpPr>
          <p:cNvPr id="156" name="Textfeld 155"/>
          <p:cNvSpPr txBox="1"/>
          <p:nvPr/>
        </p:nvSpPr>
        <p:spPr>
          <a:xfrm>
            <a:off x="2114714" y="34581142"/>
            <a:ext cx="16659392" cy="6170920"/>
          </a:xfrm>
          <a:prstGeom prst="rect">
            <a:avLst/>
          </a:prstGeom>
          <a:noFill/>
        </p:spPr>
        <p:txBody>
          <a:bodyPr wrap="square" numCol="1" rtlCol="0">
            <a:spAutoFit/>
          </a:bodyPr>
          <a:lstStyle/>
          <a:p>
            <a:r>
              <a:rPr lang="en-US" sz="2500" dirty="0">
                <a:latin typeface="Times New Roman" panose="02020603050405020304" pitchFamily="18" charset="0"/>
                <a:cs typeface="Times New Roman" panose="02020603050405020304" pitchFamily="18" charset="0"/>
              </a:rPr>
              <a:t>NOVEXA is a 3-DOF, 3D-printed hexapod </a:t>
            </a:r>
            <a:r>
              <a:rPr lang="en-US" sz="2500" dirty="0" err="1">
                <a:latin typeface="Times New Roman" panose="02020603050405020304" pitchFamily="18" charset="0"/>
                <a:cs typeface="Times New Roman" panose="02020603050405020304" pitchFamily="18" charset="0"/>
              </a:rPr>
              <a:t>robot.Its</a:t>
            </a:r>
            <a:r>
              <a:rPr lang="en-US" sz="2500" dirty="0">
                <a:latin typeface="Times New Roman" panose="02020603050405020304" pitchFamily="18" charset="0"/>
                <a:cs typeface="Times New Roman" panose="02020603050405020304" pitchFamily="18" charset="0"/>
              </a:rPr>
              <a:t> key innovation is a dual-rail power system (4S servo pack, 2S logic pack) that eliminates processor brown-outs caused by servo current spikes. This creates a highly reliable platform, validated for complex kinematics with a 20-minute runtime.</a:t>
            </a:r>
          </a:p>
          <a:p>
            <a:pPr>
              <a:spcBef>
                <a:spcPts val="600"/>
              </a:spcBef>
              <a:spcAft>
                <a:spcPts val="600"/>
              </a:spcAft>
              <a:buFont typeface="+mj-lt"/>
              <a:buAutoNum type="arabicPeriod"/>
            </a:pPr>
            <a:r>
              <a:rPr lang="en-US" sz="2500" dirty="0">
                <a:latin typeface="Times New Roman" panose="02020603050405020304" pitchFamily="18" charset="0"/>
                <a:cs typeface="Times New Roman" panose="02020603050405020304" pitchFamily="18" charset="0"/>
              </a:rPr>
              <a:t>Future Perspective:</a:t>
            </a:r>
            <a:br>
              <a:rPr lang="en-US"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Autonomous Navigation: Integrating ROS2 (Robot Operating System 2) for advanced autonomous terrain mapping and navigation.</a:t>
            </a:r>
          </a:p>
          <a:p>
            <a:pPr>
              <a:spcBef>
                <a:spcPts val="600"/>
              </a:spcBef>
              <a:spcAft>
                <a:spcPts val="600"/>
              </a:spcAft>
              <a:buFont typeface="+mj-lt"/>
              <a:buAutoNum type="arabicPeriod"/>
            </a:pPr>
            <a:r>
              <a:rPr lang="en-IN" sz="2500" dirty="0">
                <a:latin typeface="Times New Roman" panose="02020603050405020304" pitchFamily="18" charset="0"/>
                <a:cs typeface="Times New Roman" panose="02020603050405020304" pitchFamily="18" charset="0"/>
              </a:rPr>
              <a:t>Intelligent Gaits: Implementing neural gait optimization using </a:t>
            </a:r>
            <a:r>
              <a:rPr lang="en-IN" sz="2500" dirty="0" err="1">
                <a:latin typeface="Times New Roman" panose="02020603050405020304" pitchFamily="18" charset="0"/>
                <a:cs typeface="Times New Roman" panose="02020603050405020304" pitchFamily="18" charset="0"/>
              </a:rPr>
              <a:t>TinyML</a:t>
            </a:r>
            <a:r>
              <a:rPr lang="en-IN" sz="2500" dirty="0">
                <a:latin typeface="Times New Roman" panose="02020603050405020304" pitchFamily="18" charset="0"/>
                <a:cs typeface="Times New Roman" panose="02020603050405020304" pitchFamily="18" charset="0"/>
              </a:rPr>
              <a:t> on a new microcontroller, allowing the robot to learn and adapt its walk to different surfaces in real-time.</a:t>
            </a:r>
          </a:p>
          <a:p>
            <a:pPr>
              <a:spcBef>
                <a:spcPts val="600"/>
              </a:spcBef>
              <a:spcAft>
                <a:spcPts val="600"/>
              </a:spcAft>
              <a:buFont typeface="+mj-lt"/>
              <a:buAutoNum type="arabicPeriod"/>
            </a:pPr>
            <a:r>
              <a:rPr lang="en-IN" sz="2500" dirty="0">
                <a:latin typeface="Times New Roman" panose="02020603050405020304" pitchFamily="18" charset="0"/>
                <a:cs typeface="Times New Roman" panose="02020603050405020304" pitchFamily="18" charset="0"/>
              </a:rPr>
              <a:t>Actuator Upgrade: Upgrading all 18 joints from </a:t>
            </a:r>
            <a:r>
              <a:rPr lang="en-IN" sz="2500" dirty="0" err="1">
                <a:latin typeface="Times New Roman" panose="02020603050405020304" pitchFamily="18" charset="0"/>
                <a:cs typeface="Times New Roman" panose="02020603050405020304" pitchFamily="18" charset="0"/>
              </a:rPr>
              <a:t>analog</a:t>
            </a:r>
            <a:r>
              <a:rPr lang="en-IN" sz="2500" dirty="0">
                <a:latin typeface="Times New Roman" panose="02020603050405020304" pitchFamily="18" charset="0"/>
                <a:cs typeface="Times New Roman" panose="02020603050405020304" pitchFamily="18" charset="0"/>
              </a:rPr>
              <a:t> servos to high-performance metal-gear brushless servos to increase torque, speed, and durability.</a:t>
            </a:r>
          </a:p>
          <a:p>
            <a:pPr>
              <a:spcBef>
                <a:spcPts val="600"/>
              </a:spcBef>
              <a:spcAft>
                <a:spcPts val="600"/>
              </a:spcAft>
              <a:buFont typeface="+mj-lt"/>
              <a:buAutoNum type="arabicPeriod"/>
            </a:pPr>
            <a:r>
              <a:rPr lang="en-IN" sz="2500" dirty="0">
                <a:latin typeface="Times New Roman" panose="02020603050405020304" pitchFamily="18" charset="0"/>
                <a:cs typeface="Times New Roman" panose="02020603050405020304" pitchFamily="18" charset="0"/>
              </a:rPr>
              <a:t>Sensor Integration: Developing a modular sensor pod (e.g., with Lidar, camera, and environmental sensors) for comprehensive environmental mapping.</a:t>
            </a:r>
          </a:p>
          <a:p>
            <a:pPr>
              <a:spcBef>
                <a:spcPts val="600"/>
              </a:spcBef>
              <a:spcAft>
                <a:spcPts val="600"/>
              </a:spcAft>
              <a:buFont typeface="+mj-lt"/>
              <a:buAutoNum type="arabicPeriod"/>
            </a:pPr>
            <a:r>
              <a:rPr lang="en-IN" sz="2500" dirty="0">
                <a:latin typeface="Times New Roman" panose="02020603050405020304" pitchFamily="18" charset="0"/>
                <a:cs typeface="Times New Roman" panose="02020603050405020304" pitchFamily="18" charset="0"/>
              </a:rPr>
              <a:t>Endurance: Adding solar-assisted charging panels to the robot's chassis to extend operational runtime for long-duration outdoor missions.</a:t>
            </a:r>
            <a:endParaRPr lang="en-US" sz="2500" dirty="0">
              <a:latin typeface="Times New Roman" panose="02020603050405020304" pitchFamily="18" charset="0"/>
              <a:cs typeface="Times New Roman" panose="02020603050405020304" pitchFamily="18" charset="0"/>
            </a:endParaRPr>
          </a:p>
        </p:txBody>
      </p:sp>
      <p:sp>
        <p:nvSpPr>
          <p:cNvPr id="119" name="Textplatzhalter 5"/>
          <p:cNvSpPr txBox="1">
            <a:spLocks/>
          </p:cNvSpPr>
          <p:nvPr/>
        </p:nvSpPr>
        <p:spPr>
          <a:xfrm>
            <a:off x="2046131" y="19558787"/>
            <a:ext cx="8876633"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a:solidFill>
                  <a:schemeClr val="bg1"/>
                </a:solidFill>
                <a:latin typeface="Times New Roman" pitchFamily="18" charset="0"/>
                <a:cs typeface="Times New Roman" pitchFamily="18" charset="0"/>
              </a:rPr>
              <a:t>System Overview</a:t>
            </a:r>
            <a:endParaRPr kumimoji="0" lang="de-DE"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123" name="Rechteck 122"/>
          <p:cNvSpPr/>
          <p:nvPr/>
        </p:nvSpPr>
        <p:spPr>
          <a:xfrm>
            <a:off x="2064237" y="20544625"/>
            <a:ext cx="8843895" cy="12858840"/>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solidFill>
                <a:schemeClr val="bg1"/>
              </a:solidFill>
              <a:latin typeface="Times New Roman" pitchFamily="18" charset="0"/>
              <a:cs typeface="Times New Roman" pitchFamily="18" charset="0"/>
            </a:endParaRPr>
          </a:p>
        </p:txBody>
      </p:sp>
      <p:sp>
        <p:nvSpPr>
          <p:cNvPr id="128" name="Untertitel 2"/>
          <p:cNvSpPr txBox="1">
            <a:spLocks/>
          </p:cNvSpPr>
          <p:nvPr/>
        </p:nvSpPr>
        <p:spPr>
          <a:xfrm>
            <a:off x="2104158" y="41132073"/>
            <a:ext cx="27127200" cy="1440160"/>
          </a:xfrm>
          <a:prstGeom prst="rect">
            <a:avLst/>
          </a:prstGeom>
        </p:spPr>
        <p:txBody>
          <a:bodyPr vert="horz" lIns="76200" rIns="76200" anchor="t" anchorCtr="0"/>
          <a:lstStyle>
            <a:lvl1pPr marL="1565956" indent="-1565956" algn="l" defTabSz="2087941" rtl="0" eaLnBrk="1" latinLnBrk="0" hangingPunct="1">
              <a:spcBef>
                <a:spcPct val="20000"/>
              </a:spcBef>
              <a:buFont typeface="Arial"/>
              <a:buChar char="•"/>
              <a:defRPr sz="14600" kern="1200">
                <a:solidFill>
                  <a:schemeClr val="tx1"/>
                </a:solidFill>
                <a:latin typeface="+mn-lt"/>
                <a:ea typeface="+mn-ea"/>
                <a:cs typeface="+mn-cs"/>
              </a:defRPr>
            </a:lvl1pPr>
            <a:lvl2pPr marL="3392904" indent="-1304963" algn="l" defTabSz="2087941" rtl="0" eaLnBrk="1" latinLnBrk="0" hangingPunct="1">
              <a:spcBef>
                <a:spcPct val="20000"/>
              </a:spcBef>
              <a:buFont typeface="Arial"/>
              <a:buChar char="–"/>
              <a:defRPr sz="12800" kern="1200">
                <a:solidFill>
                  <a:schemeClr val="tx1"/>
                </a:solidFill>
                <a:latin typeface="+mn-lt"/>
                <a:ea typeface="+mn-ea"/>
                <a:cs typeface="+mn-cs"/>
              </a:defRPr>
            </a:lvl2pPr>
            <a:lvl3pPr marL="5219852" indent="-1043970" algn="l" defTabSz="2087941" rtl="0" eaLnBrk="1" latinLnBrk="0" hangingPunct="1">
              <a:spcBef>
                <a:spcPct val="20000"/>
              </a:spcBef>
              <a:buFont typeface="Arial"/>
              <a:buChar char="•"/>
              <a:defRPr sz="11000" kern="1200">
                <a:solidFill>
                  <a:schemeClr val="tx1"/>
                </a:solidFill>
                <a:latin typeface="+mn-lt"/>
                <a:ea typeface="+mn-ea"/>
                <a:cs typeface="+mn-cs"/>
              </a:defRPr>
            </a:lvl3pPr>
            <a:lvl4pPr marL="7307793" indent="-1043970" algn="l" defTabSz="2087941" rtl="0" eaLnBrk="1" latinLnBrk="0" hangingPunct="1">
              <a:spcBef>
                <a:spcPct val="20000"/>
              </a:spcBef>
              <a:buFont typeface="Arial"/>
              <a:buChar char="–"/>
              <a:defRPr sz="9100" kern="1200">
                <a:solidFill>
                  <a:schemeClr val="tx1"/>
                </a:solidFill>
                <a:latin typeface="+mn-lt"/>
                <a:ea typeface="+mn-ea"/>
                <a:cs typeface="+mn-cs"/>
              </a:defRPr>
            </a:lvl4pPr>
            <a:lvl5pPr marL="9395734" indent="-1043970" algn="l" defTabSz="2087941" rtl="0" eaLnBrk="1" latinLnBrk="0" hangingPunct="1">
              <a:spcBef>
                <a:spcPct val="20000"/>
              </a:spcBef>
              <a:buFont typeface="Arial"/>
              <a:buChar char="»"/>
              <a:defRPr sz="9100" kern="1200">
                <a:solidFill>
                  <a:schemeClr val="tx1"/>
                </a:solidFill>
                <a:latin typeface="+mn-lt"/>
                <a:ea typeface="+mn-ea"/>
                <a:cs typeface="+mn-cs"/>
              </a:defRPr>
            </a:lvl5pPr>
            <a:lvl6pPr marL="11483675" indent="-1043970" algn="l" defTabSz="2087941" rtl="0" eaLnBrk="1" latinLnBrk="0" hangingPunct="1">
              <a:spcBef>
                <a:spcPct val="20000"/>
              </a:spcBef>
              <a:buFont typeface="Arial"/>
              <a:buChar char="•"/>
              <a:defRPr sz="9100" kern="1200">
                <a:solidFill>
                  <a:schemeClr val="tx1"/>
                </a:solidFill>
                <a:latin typeface="+mn-lt"/>
                <a:ea typeface="+mn-ea"/>
                <a:cs typeface="+mn-cs"/>
              </a:defRPr>
            </a:lvl6pPr>
            <a:lvl7pPr marL="13571616" indent="-1043970" algn="l" defTabSz="2087941" rtl="0" eaLnBrk="1" latinLnBrk="0" hangingPunct="1">
              <a:spcBef>
                <a:spcPct val="20000"/>
              </a:spcBef>
              <a:buFont typeface="Arial"/>
              <a:buChar char="•"/>
              <a:defRPr sz="9100" kern="1200">
                <a:solidFill>
                  <a:schemeClr val="tx1"/>
                </a:solidFill>
                <a:latin typeface="+mn-lt"/>
                <a:ea typeface="+mn-ea"/>
                <a:cs typeface="+mn-cs"/>
              </a:defRPr>
            </a:lvl7pPr>
            <a:lvl8pPr marL="15659557" indent="-1043970" algn="l" defTabSz="2087941" rtl="0" eaLnBrk="1" latinLnBrk="0" hangingPunct="1">
              <a:spcBef>
                <a:spcPct val="20000"/>
              </a:spcBef>
              <a:buFont typeface="Arial"/>
              <a:buChar char="•"/>
              <a:defRPr sz="9100" kern="1200">
                <a:solidFill>
                  <a:schemeClr val="tx1"/>
                </a:solidFill>
                <a:latin typeface="+mn-lt"/>
                <a:ea typeface="+mn-ea"/>
                <a:cs typeface="+mn-cs"/>
              </a:defRPr>
            </a:lvl8pPr>
            <a:lvl9pPr marL="17747498" indent="-1043970" algn="l" defTabSz="2087941" rtl="0" eaLnBrk="1" latinLnBrk="0" hangingPunct="1">
              <a:spcBef>
                <a:spcPct val="20000"/>
              </a:spcBef>
              <a:buFont typeface="Arial"/>
              <a:buChar char="•"/>
              <a:defRPr sz="9100" kern="1200">
                <a:solidFill>
                  <a:schemeClr val="tx1"/>
                </a:solidFill>
                <a:latin typeface="+mn-lt"/>
                <a:ea typeface="+mn-ea"/>
                <a:cs typeface="+mn-cs"/>
              </a:defRPr>
            </a:lvl9pPr>
          </a:lstStyle>
          <a:p>
            <a:pPr marL="0" indent="0">
              <a:buNone/>
            </a:pPr>
            <a:r>
              <a:rPr lang="de-DE" sz="1200" dirty="0">
                <a:latin typeface="Times New Roman" pitchFamily="18" charset="0"/>
                <a:cs typeface="Times New Roman" pitchFamily="18" charset="0"/>
              </a:rPr>
              <a:t>[1] </a:t>
            </a:r>
            <a:r>
              <a:rPr lang="en-US" sz="1200" b="0" i="0" u="none" strike="noStrike" dirty="0">
                <a:solidFill>
                  <a:srgbClr val="000000"/>
                </a:solidFill>
                <a:effectLst/>
                <a:latin typeface="Times New Roman" panose="02020603050405020304" pitchFamily="18" charset="0"/>
              </a:rPr>
              <a:t>Hirose, S. (1993). </a:t>
            </a:r>
            <a:r>
              <a:rPr lang="en-US" sz="1200" b="0" i="1" u="none" strike="noStrike" dirty="0">
                <a:solidFill>
                  <a:srgbClr val="000000"/>
                </a:solidFill>
                <a:effectLst/>
                <a:latin typeface="Times New Roman" panose="02020603050405020304" pitchFamily="18" charset="0"/>
              </a:rPr>
              <a:t>Biologically Inspired Robots: Snake-like Locomotors and Manipulators.</a:t>
            </a:r>
            <a:r>
              <a:rPr lang="en-US" sz="1200" b="0" i="0" u="none" strike="noStrike" dirty="0">
                <a:solidFill>
                  <a:srgbClr val="000000"/>
                </a:solidFill>
                <a:effectLst/>
                <a:latin typeface="Times New Roman" panose="02020603050405020304" pitchFamily="18" charset="0"/>
              </a:rPr>
              <a:t> Oxford University Press.</a:t>
            </a:r>
          </a:p>
          <a:p>
            <a:pPr marL="0" indent="0" rtl="0" fontAlgn="base">
              <a:spcAft>
                <a:spcPts val="800"/>
              </a:spcAft>
              <a:buNone/>
            </a:pPr>
            <a:r>
              <a:rPr lang="en-US" sz="1200" dirty="0">
                <a:solidFill>
                  <a:srgbClr val="000000"/>
                </a:solidFill>
                <a:latin typeface="Times New Roman" panose="02020603050405020304" pitchFamily="18" charset="0"/>
                <a:cs typeface="Times New Roman" pitchFamily="18" charset="0"/>
              </a:rPr>
              <a:t>[2]</a:t>
            </a:r>
            <a:r>
              <a:rPr lang="en-US" sz="1200" b="0" i="0" u="none" strike="noStrike" dirty="0">
                <a:solidFill>
                  <a:srgbClr val="000000"/>
                </a:solidFill>
                <a:effectLst/>
                <a:latin typeface="Times New Roman" panose="02020603050405020304" pitchFamily="18" charset="0"/>
              </a:rPr>
              <a:t> Kimura, H. et al. (2018). </a:t>
            </a:r>
            <a:r>
              <a:rPr lang="en-US" sz="1200" b="0" i="1" u="none" strike="noStrike" dirty="0">
                <a:solidFill>
                  <a:srgbClr val="000000"/>
                </a:solidFill>
                <a:effectLst/>
                <a:latin typeface="Times New Roman" panose="02020603050405020304" pitchFamily="18" charset="0"/>
              </a:rPr>
              <a:t>Adaptive Dynamic Walking of Multi-Legged Robots.</a:t>
            </a:r>
            <a:r>
              <a:rPr lang="en-US" sz="1200" b="0" i="0" u="none" strike="noStrike" dirty="0">
                <a:solidFill>
                  <a:srgbClr val="000000"/>
                </a:solidFill>
                <a:effectLst/>
                <a:latin typeface="Times New Roman" panose="02020603050405020304" pitchFamily="18" charset="0"/>
              </a:rPr>
              <a:t> Robotics and Autonomous Systems.</a:t>
            </a:r>
            <a:br>
              <a:rPr lang="en-US" sz="1200" dirty="0">
                <a:solidFill>
                  <a:srgbClr val="000000"/>
                </a:solidFill>
                <a:latin typeface="Times New Roman" panose="02020603050405020304" pitchFamily="18" charset="0"/>
                <a:cs typeface="Times New Roman" pitchFamily="18" charset="0"/>
              </a:rPr>
            </a:br>
            <a:r>
              <a:rPr lang="en-US" sz="1200" dirty="0">
                <a:solidFill>
                  <a:srgbClr val="000000"/>
                </a:solidFill>
                <a:latin typeface="Times New Roman" panose="02020603050405020304" pitchFamily="18" charset="0"/>
                <a:cs typeface="Times New Roman" pitchFamily="18" charset="0"/>
              </a:rPr>
              <a:t>[3] </a:t>
            </a:r>
            <a:r>
              <a:rPr lang="en-US" sz="1200" b="0" i="0" u="none" strike="noStrike" dirty="0">
                <a:solidFill>
                  <a:srgbClr val="000000"/>
                </a:solidFill>
                <a:effectLst/>
                <a:latin typeface="Times New Roman" panose="02020603050405020304" pitchFamily="18" charset="0"/>
              </a:rPr>
              <a:t>Siciliano, B., &amp; Khatib, O. (2016). </a:t>
            </a:r>
            <a:r>
              <a:rPr lang="en-US" sz="1200" b="0" i="1" u="none" strike="noStrike" dirty="0">
                <a:solidFill>
                  <a:srgbClr val="000000"/>
                </a:solidFill>
                <a:effectLst/>
                <a:latin typeface="Times New Roman" panose="02020603050405020304" pitchFamily="18" charset="0"/>
              </a:rPr>
              <a:t>Springer Handbook of Robotics.</a:t>
            </a:r>
            <a:r>
              <a:rPr lang="en-US" sz="1200" b="0" i="0" u="none" strike="noStrike" dirty="0">
                <a:solidFill>
                  <a:srgbClr val="000000"/>
                </a:solidFill>
                <a:effectLst/>
                <a:latin typeface="Times New Roman" panose="02020603050405020304" pitchFamily="18" charset="0"/>
              </a:rPr>
              <a:t> Springer.</a:t>
            </a:r>
            <a:br>
              <a:rPr lang="en-US" sz="1200" dirty="0">
                <a:solidFill>
                  <a:srgbClr val="000000"/>
                </a:solidFill>
                <a:latin typeface="Times New Roman" panose="02020603050405020304" pitchFamily="18" charset="0"/>
                <a:cs typeface="Times New Roman" pitchFamily="18" charset="0"/>
              </a:rPr>
            </a:br>
            <a:r>
              <a:rPr lang="en-US" sz="1200" dirty="0">
                <a:solidFill>
                  <a:srgbClr val="000000"/>
                </a:solidFill>
                <a:latin typeface="Times New Roman" panose="02020603050405020304" pitchFamily="18" charset="0"/>
                <a:cs typeface="Times New Roman" pitchFamily="18" charset="0"/>
              </a:rPr>
              <a:t>[4] </a:t>
            </a:r>
            <a:r>
              <a:rPr lang="en-US" sz="1200" b="0" i="0" u="none" strike="noStrike" dirty="0">
                <a:solidFill>
                  <a:srgbClr val="000000"/>
                </a:solidFill>
                <a:effectLst/>
                <a:latin typeface="Times New Roman" panose="02020603050405020304" pitchFamily="18" charset="0"/>
              </a:rPr>
              <a:t>Gupta, S. et al. (2023). </a:t>
            </a:r>
            <a:r>
              <a:rPr lang="en-US" sz="1200" b="0" i="1" u="none" strike="noStrike" dirty="0">
                <a:solidFill>
                  <a:srgbClr val="000000"/>
                </a:solidFill>
                <a:effectLst/>
                <a:latin typeface="Times New Roman" panose="02020603050405020304" pitchFamily="18" charset="0"/>
              </a:rPr>
              <a:t>Design and Additive Manufacturing of Modular Hexapods for Education.</a:t>
            </a:r>
            <a:r>
              <a:rPr lang="en-US" sz="1200" b="0" i="0" u="none" strike="noStrike" dirty="0">
                <a:solidFill>
                  <a:srgbClr val="000000"/>
                </a:solidFill>
                <a:effectLst/>
                <a:latin typeface="Times New Roman" panose="02020603050405020304" pitchFamily="18" charset="0"/>
              </a:rPr>
              <a:t> IEEE EDUCON Proceedings.</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[5] Nolfi, S., &amp; </a:t>
            </a:r>
            <a:r>
              <a:rPr lang="en-US" sz="1200" b="0" i="0" u="none" strike="noStrike" dirty="0" err="1">
                <a:solidFill>
                  <a:srgbClr val="000000"/>
                </a:solidFill>
                <a:effectLst/>
                <a:latin typeface="Times New Roman" panose="02020603050405020304" pitchFamily="18" charset="0"/>
              </a:rPr>
              <a:t>Floreano</a:t>
            </a:r>
            <a:r>
              <a:rPr lang="en-US" sz="1200" b="0" i="0" u="none" strike="noStrike" dirty="0">
                <a:solidFill>
                  <a:srgbClr val="000000"/>
                </a:solidFill>
                <a:effectLst/>
                <a:latin typeface="Times New Roman" panose="02020603050405020304" pitchFamily="18" charset="0"/>
              </a:rPr>
              <a:t>, D. (2000). </a:t>
            </a:r>
            <a:r>
              <a:rPr lang="en-US" sz="1200" b="0" i="1" u="none" strike="noStrike" dirty="0">
                <a:solidFill>
                  <a:srgbClr val="000000"/>
                </a:solidFill>
                <a:effectLst/>
                <a:latin typeface="Times New Roman" panose="02020603050405020304" pitchFamily="18" charset="0"/>
              </a:rPr>
              <a:t>Evolutionary Robotics.</a:t>
            </a:r>
            <a:r>
              <a:rPr lang="en-US" sz="1200" b="0" i="0" u="none" strike="noStrike" dirty="0">
                <a:solidFill>
                  <a:srgbClr val="000000"/>
                </a:solidFill>
                <a:effectLst/>
                <a:latin typeface="Times New Roman" panose="02020603050405020304" pitchFamily="18" charset="0"/>
              </a:rPr>
              <a:t> MIT Press.</a:t>
            </a:r>
            <a:endParaRPr lang="de-DE" sz="1200" dirty="0">
              <a:latin typeface="Times New Roman" pitchFamily="18" charset="0"/>
              <a:cs typeface="Times New Roman" pitchFamily="18" charset="0"/>
            </a:endParaRPr>
          </a:p>
          <a:p>
            <a:pPr marL="0" indent="0">
              <a:buNone/>
            </a:pPr>
            <a:endParaRPr lang="de-DE" sz="1200" dirty="0">
              <a:latin typeface="Times New Roman" pitchFamily="18" charset="0"/>
              <a:cs typeface="Times New Roman" pitchFamily="18" charset="0"/>
            </a:endParaRPr>
          </a:p>
          <a:p>
            <a:pPr marL="304800" indent="0">
              <a:spcBef>
                <a:spcPts val="0"/>
              </a:spcBef>
              <a:buNone/>
            </a:pPr>
            <a:r>
              <a:rPr lang="de-DE" sz="1200" dirty="0">
                <a:latin typeface="Times New Roman" pitchFamily="18" charset="0"/>
                <a:cs typeface="Times New Roman" pitchFamily="18" charset="0"/>
              </a:rPr>
              <a:t> </a:t>
            </a:r>
          </a:p>
        </p:txBody>
      </p:sp>
      <p:sp>
        <p:nvSpPr>
          <p:cNvPr id="19" name="Textfeld 18"/>
          <p:cNvSpPr txBox="1"/>
          <p:nvPr/>
        </p:nvSpPr>
        <p:spPr>
          <a:xfrm>
            <a:off x="2288390" y="7144297"/>
            <a:ext cx="13713312" cy="5693866"/>
          </a:xfrm>
          <a:prstGeom prst="rect">
            <a:avLst/>
          </a:prstGeom>
          <a:noFill/>
        </p:spPr>
        <p:txBody>
          <a:bodyPr wrap="square" rtlCol="0">
            <a:spAutoFit/>
          </a:bodyPr>
          <a:lstStyle>
            <a:defPPr>
              <a:defRPr lang="de-DE"/>
            </a:defPPr>
            <a:lvl1pPr>
              <a:defRPr sz="2600">
                <a:latin typeface="Lucida Sans"/>
                <a:cs typeface="Lucida Sans"/>
              </a:defRPr>
            </a:lvl1pPr>
          </a:lstStyle>
          <a:p>
            <a:pPr algn="just"/>
            <a:r>
              <a:rPr lang="en-IN" dirty="0">
                <a:latin typeface="Times New Roman" panose="02020603050405020304" pitchFamily="18" charset="0"/>
                <a:cs typeface="Times New Roman" panose="02020603050405020304" pitchFamily="18" charset="0"/>
              </a:rPr>
              <a:t>The design, development, and control of a 1-meter class 3D-printed hexapod robot developed as an experimental platform for terrain-adaptive locomotion and autonomous navigation. The system features six articulated legs, each providing three degrees of freedom (DOF), yielding a total of 18-DOF mobility.</a:t>
            </a:r>
          </a:p>
          <a:p>
            <a:pPr algn="just"/>
            <a:r>
              <a:rPr lang="en-IN" dirty="0">
                <a:latin typeface="Times New Roman" panose="02020603050405020304" pitchFamily="18" charset="0"/>
                <a:cs typeface="Times New Roman" panose="02020603050405020304" pitchFamily="18" charset="0"/>
              </a:rPr>
              <a:t>The robot structure was designed using additive manufacturing (3D printing) for modularity and cost-efficiency. A microcontroller-based gait engine implemented on an ESP32, Arduino Mega and Arduino Nano coordinates servo actuation for tripod, ripple, and wave gaits. Embedded sensors, including an IMU (MPU6050) and ultrasonic rangefinders, provide feedback for orientation stabilization and obstacle avoidance.</a:t>
            </a:r>
          </a:p>
          <a:p>
            <a:pPr algn="just"/>
            <a:r>
              <a:rPr lang="en-IN" dirty="0">
                <a:latin typeface="Times New Roman" panose="02020603050405020304" pitchFamily="18" charset="0"/>
                <a:cs typeface="Times New Roman" panose="02020603050405020304" pitchFamily="18" charset="0"/>
              </a:rPr>
              <a:t>The project demonstrates the feasibility of lightweight polymer-based robotic designs for educational and research applications in locomotion control, biomechanics, and terrain robotics. The results validate that 3D-printed hexapods can achieve stable and energy-efficient walking patterns comparable to traditional machined platforms at significantly reduced cost and weight. The block diagram of the  autonomous systems is shown in Figure 1.</a:t>
            </a:r>
            <a:endParaRPr lang="en-IN" sz="2500" dirty="0">
              <a:latin typeface="Times New Roman" panose="02020603050405020304" pitchFamily="18" charset="0"/>
              <a:cs typeface="Times New Roman" panose="02020603050405020304" pitchFamily="18" charset="0"/>
            </a:endParaRPr>
          </a:p>
        </p:txBody>
      </p:sp>
      <p:sp>
        <p:nvSpPr>
          <p:cNvPr id="449" name="Rectangle 448"/>
          <p:cNvSpPr/>
          <p:nvPr/>
        </p:nvSpPr>
        <p:spPr>
          <a:xfrm>
            <a:off x="11351393" y="20544625"/>
            <a:ext cx="7299637" cy="7679025"/>
          </a:xfrm>
          <a:prstGeom prst="rect">
            <a:avLst/>
          </a:prstGeom>
        </p:spPr>
        <p:txBody>
          <a:bodyPr wrap="square">
            <a:spAutoFit/>
          </a:bodyPr>
          <a:lstStyle/>
          <a:p>
            <a:pPr algn="just"/>
            <a:r>
              <a:rPr lang="en-US" sz="2600" dirty="0">
                <a:latin typeface="Times New Roman" panose="02020603050405020304" pitchFamily="18" charset="0"/>
                <a:cs typeface="Times New Roman" panose="02020603050405020304" pitchFamily="18" charset="0"/>
              </a:rPr>
              <a:t>The conception of NOVEXA was driven by a specific engineering challenge: solving the critical power instability seen in many 18-servo hexapod builds. While the 3-DOF mechanics were well-established by the open-source community, the goal is to re-engineer the platform from the ground up, focusing on a clean, integrated design with dedicated spaces for all components, and, most critically, solving the power problem.</a:t>
            </a:r>
          </a:p>
          <a:p>
            <a:pPr algn="just"/>
            <a:r>
              <a:rPr lang="en-US" sz="2600" dirty="0">
                <a:latin typeface="Times New Roman" panose="02020603050405020304" pitchFamily="18" charset="0"/>
                <a:cs typeface="Times New Roman" panose="02020603050405020304" pitchFamily="18" charset="0"/>
              </a:rPr>
              <a:t>The core concept was to engineer a robust, dual-rail power architecture from the outset, completely isolating the high-current 4S servo supply from the sensitive 2S logic rail. This would create a reliable and fault-tolerant foundation. To validate the mechanical feasibility and component fit of this integrated design, a 1:1 scale cardboard model was first used to verify all physical dimensions and clearances.</a:t>
            </a:r>
          </a:p>
          <a:p>
            <a:pPr algn="just"/>
            <a:endParaRPr lang="en-US" sz="25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1E74FBF-84CA-E572-DC66-9DD1EA6D4221}"/>
              </a:ext>
            </a:extLst>
          </p:cNvPr>
          <p:cNvPicPr>
            <a:picLocks noChangeAspect="1"/>
          </p:cNvPicPr>
          <p:nvPr/>
        </p:nvPicPr>
        <p:blipFill>
          <a:blip r:embed="rId3"/>
          <a:stretch>
            <a:fillRect/>
          </a:stretch>
        </p:blipFill>
        <p:spPr>
          <a:xfrm>
            <a:off x="2064993" y="490798"/>
            <a:ext cx="8768191" cy="2739118"/>
          </a:xfrm>
          <a:prstGeom prst="rect">
            <a:avLst/>
          </a:prstGeom>
        </p:spPr>
      </p:pic>
      <p:pic>
        <p:nvPicPr>
          <p:cNvPr id="1041" name="Picture 17" descr="Profile image">
            <a:extLst>
              <a:ext uri="{FF2B5EF4-FFF2-40B4-BE49-F238E27FC236}">
                <a16:creationId xmlns:a16="http://schemas.microsoft.com/office/drawing/2014/main" id="{7DD4474A-A18B-DC29-6819-87BF1B5CF8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42964" y="35653295"/>
            <a:ext cx="1919849" cy="1919849"/>
          </a:xfrm>
          <a:prstGeom prst="rect">
            <a:avLst/>
          </a:prstGeom>
          <a:noFill/>
          <a:effectLst>
            <a:softEdge rad="0"/>
          </a:effectLst>
          <a:extLst>
            <a:ext uri="{909E8E84-426E-40DD-AFC4-6F175D3DCCD1}">
              <a14:hiddenFill xmlns:a14="http://schemas.microsoft.com/office/drawing/2010/main">
                <a:solidFill>
                  <a:srgbClr val="FFFFFF"/>
                </a:solidFill>
              </a14:hiddenFill>
            </a:ext>
          </a:extLst>
        </p:spPr>
      </p:pic>
      <p:sp>
        <p:nvSpPr>
          <p:cNvPr id="462" name="TextBox 461">
            <a:extLst>
              <a:ext uri="{FF2B5EF4-FFF2-40B4-BE49-F238E27FC236}">
                <a16:creationId xmlns:a16="http://schemas.microsoft.com/office/drawing/2014/main" id="{7BDEE286-1AE4-4C77-D2B0-BF9B55030F9D}"/>
              </a:ext>
            </a:extLst>
          </p:cNvPr>
          <p:cNvSpPr txBox="1"/>
          <p:nvPr/>
        </p:nvSpPr>
        <p:spPr>
          <a:xfrm>
            <a:off x="19118017" y="37471419"/>
            <a:ext cx="196974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Aditya Jadav</a:t>
            </a:r>
          </a:p>
        </p:txBody>
      </p:sp>
      <p:sp>
        <p:nvSpPr>
          <p:cNvPr id="463" name="TextBox 462">
            <a:extLst>
              <a:ext uri="{FF2B5EF4-FFF2-40B4-BE49-F238E27FC236}">
                <a16:creationId xmlns:a16="http://schemas.microsoft.com/office/drawing/2014/main" id="{52FF245E-4F6D-5AC6-B79C-B655AE1420C0}"/>
              </a:ext>
            </a:extLst>
          </p:cNvPr>
          <p:cNvSpPr txBox="1"/>
          <p:nvPr/>
        </p:nvSpPr>
        <p:spPr>
          <a:xfrm>
            <a:off x="23955665" y="37488202"/>
            <a:ext cx="1919849"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Archie Veera</a:t>
            </a:r>
          </a:p>
        </p:txBody>
      </p:sp>
      <p:sp>
        <p:nvSpPr>
          <p:cNvPr id="464" name="TextBox 463">
            <a:extLst>
              <a:ext uri="{FF2B5EF4-FFF2-40B4-BE49-F238E27FC236}">
                <a16:creationId xmlns:a16="http://schemas.microsoft.com/office/drawing/2014/main" id="{B0CE52A6-FC59-32A3-7E50-D3565485EA55}"/>
              </a:ext>
            </a:extLst>
          </p:cNvPr>
          <p:cNvSpPr txBox="1"/>
          <p:nvPr/>
        </p:nvSpPr>
        <p:spPr>
          <a:xfrm>
            <a:off x="19085262" y="40026217"/>
            <a:ext cx="2592288"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Bilal Sabugar</a:t>
            </a:r>
          </a:p>
        </p:txBody>
      </p:sp>
      <p:sp>
        <p:nvSpPr>
          <p:cNvPr id="466" name="TextBox 465">
            <a:extLst>
              <a:ext uri="{FF2B5EF4-FFF2-40B4-BE49-F238E27FC236}">
                <a16:creationId xmlns:a16="http://schemas.microsoft.com/office/drawing/2014/main" id="{B87EDAEA-DB9D-AF69-861C-1FECAB7DB5E2}"/>
              </a:ext>
            </a:extLst>
          </p:cNvPr>
          <p:cNvSpPr txBox="1"/>
          <p:nvPr/>
        </p:nvSpPr>
        <p:spPr>
          <a:xfrm>
            <a:off x="21155210" y="36110181"/>
            <a:ext cx="2534108" cy="132343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aditya.jadav.btech2025@atlasskilltech.university</a:t>
            </a:r>
          </a:p>
          <a:p>
            <a:endParaRPr lang="en-IN" sz="2000" dirty="0">
              <a:latin typeface="Times New Roman" panose="02020603050405020304" pitchFamily="18" charset="0"/>
              <a:cs typeface="Times New Roman" panose="02020603050405020304" pitchFamily="18" charset="0"/>
            </a:endParaRPr>
          </a:p>
        </p:txBody>
      </p:sp>
      <p:sp>
        <p:nvSpPr>
          <p:cNvPr id="468" name="TextBox 467">
            <a:extLst>
              <a:ext uri="{FF2B5EF4-FFF2-40B4-BE49-F238E27FC236}">
                <a16:creationId xmlns:a16="http://schemas.microsoft.com/office/drawing/2014/main" id="{6D9E7983-8462-90A2-7C98-EE10E200B505}"/>
              </a:ext>
            </a:extLst>
          </p:cNvPr>
          <p:cNvSpPr txBox="1"/>
          <p:nvPr/>
        </p:nvSpPr>
        <p:spPr>
          <a:xfrm>
            <a:off x="26083018" y="36110181"/>
            <a:ext cx="2592288"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archie.veera.btech2025@atlasskilltech.university</a:t>
            </a:r>
          </a:p>
        </p:txBody>
      </p:sp>
      <p:sp>
        <p:nvSpPr>
          <p:cNvPr id="470" name="TextBox 469">
            <a:extLst>
              <a:ext uri="{FF2B5EF4-FFF2-40B4-BE49-F238E27FC236}">
                <a16:creationId xmlns:a16="http://schemas.microsoft.com/office/drawing/2014/main" id="{5B97267D-CF3C-CFFF-7C04-EF03822AFB53}"/>
              </a:ext>
            </a:extLst>
          </p:cNvPr>
          <p:cNvSpPr txBox="1"/>
          <p:nvPr/>
        </p:nvSpPr>
        <p:spPr>
          <a:xfrm>
            <a:off x="21097029" y="38338828"/>
            <a:ext cx="2592288" cy="132343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bilal.sabugar.btech2025@atlasskilltech.university</a:t>
            </a:r>
          </a:p>
          <a:p>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FF60584-4741-D07D-CC44-63A86C8D84D1}"/>
              </a:ext>
            </a:extLst>
          </p:cNvPr>
          <p:cNvSpPr txBox="1"/>
          <p:nvPr/>
        </p:nvSpPr>
        <p:spPr>
          <a:xfrm>
            <a:off x="2288390" y="18170467"/>
            <a:ext cx="7016568" cy="492443"/>
          </a:xfrm>
          <a:prstGeom prst="rect">
            <a:avLst/>
          </a:prstGeom>
          <a:noFill/>
        </p:spPr>
        <p:txBody>
          <a:bodyPr wrap="square">
            <a:spAutoFit/>
          </a:bodyPr>
          <a:lstStyle/>
          <a:p>
            <a:r>
              <a:rPr lang="en-IN" sz="2600" dirty="0">
                <a:latin typeface="Times New Roman" panose="02020603050405020304" pitchFamily="18" charset="0"/>
                <a:cs typeface="Times New Roman" panose="02020603050405020304" pitchFamily="18" charset="0"/>
              </a:rPr>
              <a:t>Figure 1. Hexapod- Block Diagram  </a:t>
            </a:r>
            <a:endParaRPr lang="en-US" sz="2600" dirty="0"/>
          </a:p>
        </p:txBody>
      </p:sp>
      <p:sp>
        <p:nvSpPr>
          <p:cNvPr id="5" name="TextBox 4">
            <a:extLst>
              <a:ext uri="{FF2B5EF4-FFF2-40B4-BE49-F238E27FC236}">
                <a16:creationId xmlns:a16="http://schemas.microsoft.com/office/drawing/2014/main" id="{32178F40-751D-969F-120E-8B2497191ED9}"/>
              </a:ext>
            </a:extLst>
          </p:cNvPr>
          <p:cNvSpPr txBox="1"/>
          <p:nvPr/>
        </p:nvSpPr>
        <p:spPr>
          <a:xfrm>
            <a:off x="23771831" y="40026217"/>
            <a:ext cx="3738670" cy="400110"/>
          </a:xfrm>
          <a:prstGeom prst="rect">
            <a:avLst/>
          </a:prstGeom>
          <a:noFill/>
        </p:spPr>
        <p:txBody>
          <a:bodyPr wrap="square" rtlCol="0">
            <a:spAutoFit/>
          </a:bodyPr>
          <a:lstStyle/>
          <a:p>
            <a:r>
              <a:rPr lang="en-IN" sz="2000" b="1" dirty="0" err="1">
                <a:latin typeface="Times New Roman" panose="02020603050405020304" pitchFamily="18" charset="0"/>
                <a:cs typeface="Times New Roman" panose="02020603050405020304" pitchFamily="18" charset="0"/>
              </a:rPr>
              <a:t>Prof..Dr</a:t>
            </a:r>
            <a:r>
              <a:rPr lang="en-IN" sz="2000" b="1" dirty="0">
                <a:latin typeface="Times New Roman" panose="02020603050405020304" pitchFamily="18" charset="0"/>
                <a:cs typeface="Times New Roman" panose="02020603050405020304" pitchFamily="18" charset="0"/>
              </a:rPr>
              <a:t> Rabinder Henry</a:t>
            </a:r>
          </a:p>
        </p:txBody>
      </p:sp>
      <p:sp>
        <p:nvSpPr>
          <p:cNvPr id="12" name="TextBox 11">
            <a:extLst>
              <a:ext uri="{FF2B5EF4-FFF2-40B4-BE49-F238E27FC236}">
                <a16:creationId xmlns:a16="http://schemas.microsoft.com/office/drawing/2014/main" id="{B5919F43-41CB-327E-9123-AACAFC632D07}"/>
              </a:ext>
            </a:extLst>
          </p:cNvPr>
          <p:cNvSpPr txBox="1"/>
          <p:nvPr/>
        </p:nvSpPr>
        <p:spPr>
          <a:xfrm>
            <a:off x="26074356" y="38338828"/>
            <a:ext cx="2946493"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rabinder.henry@attlasuniversity.edu.in</a:t>
            </a:r>
          </a:p>
        </p:txBody>
      </p:sp>
      <p:graphicFrame>
        <p:nvGraphicFramePr>
          <p:cNvPr id="20" name="Table 19">
            <a:extLst>
              <a:ext uri="{FF2B5EF4-FFF2-40B4-BE49-F238E27FC236}">
                <a16:creationId xmlns:a16="http://schemas.microsoft.com/office/drawing/2014/main" id="{D2A25B88-6952-4E5F-98C1-81FE375291FD}"/>
              </a:ext>
            </a:extLst>
          </p:cNvPr>
          <p:cNvGraphicFramePr>
            <a:graphicFrameLocks noGrp="1"/>
          </p:cNvGraphicFramePr>
          <p:nvPr>
            <p:extLst>
              <p:ext uri="{D42A27DB-BD31-4B8C-83A1-F6EECF244321}">
                <p14:modId xmlns:p14="http://schemas.microsoft.com/office/powerpoint/2010/main" val="754515752"/>
              </p:ext>
            </p:extLst>
          </p:nvPr>
        </p:nvGraphicFramePr>
        <p:xfrm>
          <a:off x="2106612" y="20660564"/>
          <a:ext cx="8726572" cy="7754096"/>
        </p:xfrm>
        <a:graphic>
          <a:graphicData uri="http://schemas.openxmlformats.org/drawingml/2006/table">
            <a:tbl>
              <a:tblPr firstRow="1" bandRow="1">
                <a:tableStyleId>{5C22544A-7EE6-4342-B048-85BDC9FD1C3A}</a:tableStyleId>
              </a:tblPr>
              <a:tblGrid>
                <a:gridCol w="3543621">
                  <a:extLst>
                    <a:ext uri="{9D8B030D-6E8A-4147-A177-3AD203B41FA5}">
                      <a16:colId xmlns:a16="http://schemas.microsoft.com/office/drawing/2014/main" val="3887096924"/>
                    </a:ext>
                  </a:extLst>
                </a:gridCol>
                <a:gridCol w="5182951">
                  <a:extLst>
                    <a:ext uri="{9D8B030D-6E8A-4147-A177-3AD203B41FA5}">
                      <a16:colId xmlns:a16="http://schemas.microsoft.com/office/drawing/2014/main" val="3639502430"/>
                    </a:ext>
                  </a:extLst>
                </a:gridCol>
              </a:tblGrid>
              <a:tr h="525134">
                <a:tc>
                  <a:txBody>
                    <a:bodyPr/>
                    <a:lstStyle/>
                    <a:p>
                      <a:pPr algn="ctr"/>
                      <a:r>
                        <a:rPr lang="en-IN" sz="2400" b="1" dirty="0">
                          <a:solidFill>
                            <a:schemeClr val="bg1"/>
                          </a:solidFill>
                          <a:latin typeface="Times New Roman" panose="02020603050405020304" pitchFamily="18" charset="0"/>
                          <a:cs typeface="Times New Roman" panose="02020603050405020304" pitchFamily="18" charset="0"/>
                        </a:rPr>
                        <a:t>Parameter</a:t>
                      </a:r>
                    </a:p>
                  </a:txBody>
                  <a:tcPr/>
                </a:tc>
                <a:tc>
                  <a:txBody>
                    <a:bodyPr/>
                    <a:lstStyle/>
                    <a:p>
                      <a:pPr algn="ctr"/>
                      <a:r>
                        <a:rPr lang="en-IN" sz="2400" b="1" dirty="0">
                          <a:latin typeface="Times New Roman" panose="02020603050405020304" pitchFamily="18" charset="0"/>
                          <a:cs typeface="Times New Roman" panose="02020603050405020304" pitchFamily="18" charset="0"/>
                        </a:rPr>
                        <a:t>Specification</a:t>
                      </a:r>
                    </a:p>
                  </a:txBody>
                  <a:tcPr/>
                </a:tc>
                <a:extLst>
                  <a:ext uri="{0D108BD9-81ED-4DB2-BD59-A6C34878D82A}">
                    <a16:rowId xmlns:a16="http://schemas.microsoft.com/office/drawing/2014/main" val="2077149897"/>
                  </a:ext>
                </a:extLst>
              </a:tr>
              <a:tr h="711778">
                <a:tc>
                  <a:txBody>
                    <a:bodyPr/>
                    <a:lstStyle/>
                    <a:p>
                      <a:r>
                        <a:rPr lang="en-IN" sz="2400" b="1" u="none" strike="noStrike" kern="1200" dirty="0">
                          <a:solidFill>
                            <a:schemeClr val="dk1"/>
                          </a:solidFill>
                          <a:effectLst/>
                          <a:latin typeface="Times New Roman" panose="02020603050405020304" pitchFamily="18" charset="0"/>
                          <a:cs typeface="Times New Roman" panose="02020603050405020304" pitchFamily="18" charset="0"/>
                        </a:rPr>
                        <a:t>Footprint (L × W × H)</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IN" sz="2400" b="0" u="none" strike="noStrike">
                          <a:solidFill>
                            <a:srgbClr val="000000"/>
                          </a:solidFill>
                          <a:effectLst/>
                          <a:latin typeface="Times New Roman" panose="02020603050405020304" pitchFamily="18" charset="0"/>
                          <a:cs typeface="Times New Roman" panose="02020603050405020304" pitchFamily="18" charset="0"/>
                        </a:rPr>
                        <a:t>45 </a:t>
                      </a:r>
                      <a:r>
                        <a:rPr lang="en-IN" sz="2400" b="0" u="none" strike="noStrike" dirty="0">
                          <a:solidFill>
                            <a:srgbClr val="000000"/>
                          </a:solidFill>
                          <a:effectLst/>
                          <a:latin typeface="Times New Roman" panose="02020603050405020304" pitchFamily="18" charset="0"/>
                          <a:cs typeface="Times New Roman" panose="02020603050405020304" pitchFamily="18" charset="0"/>
                        </a:rPr>
                        <a:t>cm × 69 cm </a:t>
                      </a:r>
                      <a:r>
                        <a:rPr lang="en-IN" sz="2400" b="0" u="none" strike="noStrike">
                          <a:solidFill>
                            <a:srgbClr val="000000"/>
                          </a:solidFill>
                          <a:effectLst/>
                          <a:latin typeface="Times New Roman" panose="02020603050405020304" pitchFamily="18" charset="0"/>
                          <a:cs typeface="Times New Roman" panose="02020603050405020304" pitchFamily="18" charset="0"/>
                        </a:rPr>
                        <a:t>× 27 cm</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5846236"/>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Total Mass</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5.5–6.0 kg</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8721542"/>
                  </a:ext>
                </a:extLst>
              </a:tr>
              <a:tr h="711778">
                <a:tc>
                  <a:txBody>
                    <a:bodyPr/>
                    <a:lstStyle/>
                    <a:p>
                      <a:r>
                        <a:rPr lang="en-IN" sz="2400" b="1" u="none" strike="noStrike" dirty="0">
                          <a:solidFill>
                            <a:srgbClr val="000000"/>
                          </a:solidFill>
                          <a:effectLst/>
                          <a:latin typeface="Times New Roman" panose="02020603050405020304" pitchFamily="18" charset="0"/>
                          <a:cs typeface="Times New Roman" panose="02020603050405020304" pitchFamily="18" charset="0"/>
                        </a:rPr>
                        <a:t>Material</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PLA  (3D-printed)</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8334553"/>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Degrees of Freedom</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18 (3 per leg × 6 legs)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4121916"/>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Power Supply</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7.4–12 V DC</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075439"/>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Control Board</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ESP32 (dual-core, Wi-Fi enabled)</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1477069"/>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Motion Drivers</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PCA9685 16-channel PWM boards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1560998"/>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Sensors</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MPU6050 (IMU), Ultrasonic (×3), optional camera</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6372377"/>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Runtime (typical)</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IN" sz="2400" b="0" u="none" strike="noStrike" dirty="0">
                          <a:solidFill>
                            <a:srgbClr val="000000"/>
                          </a:solidFill>
                          <a:effectLst/>
                          <a:latin typeface="Times New Roman" panose="02020603050405020304" pitchFamily="18" charset="0"/>
                          <a:cs typeface="Times New Roman" panose="02020603050405020304" pitchFamily="18" charset="0"/>
                        </a:rPr>
                        <a:t>45–60 minutes per charge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1681380"/>
                  </a:ext>
                </a:extLst>
              </a:tr>
              <a:tr h="711778">
                <a:tc>
                  <a:txBody>
                    <a:bodyPr/>
                    <a:lstStyle/>
                    <a:p>
                      <a:pPr rtl="0" fontAlgn="ctr">
                        <a:spcAft>
                          <a:spcPts val="800"/>
                        </a:spcAft>
                        <a:buNone/>
                      </a:pPr>
                      <a:r>
                        <a:rPr lang="en-IN" sz="2400" b="1" u="none" strike="noStrike" dirty="0">
                          <a:solidFill>
                            <a:srgbClr val="000000"/>
                          </a:solidFill>
                          <a:effectLst/>
                          <a:latin typeface="Times New Roman" panose="02020603050405020304" pitchFamily="18" charset="0"/>
                          <a:cs typeface="Times New Roman" panose="02020603050405020304" pitchFamily="18" charset="0"/>
                        </a:rPr>
                        <a:t>Build Envelope</a:t>
                      </a:r>
                      <a:endParaRPr lang="en-IN" sz="2400" b="1" dirty="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r>
                        <a:rPr lang="en-US" sz="2400" b="0" u="none" strike="noStrike" dirty="0">
                          <a:solidFill>
                            <a:srgbClr val="000000"/>
                          </a:solidFill>
                          <a:effectLst/>
                          <a:latin typeface="Times New Roman" panose="02020603050405020304" pitchFamily="18" charset="0"/>
                          <a:cs typeface="Times New Roman" panose="02020603050405020304" pitchFamily="18" charset="0"/>
                        </a:rPr>
                        <a:t>≤ 1000 mm footprint, ≤ 400 mm height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2082429"/>
                  </a:ext>
                </a:extLst>
              </a:tr>
            </a:tbl>
          </a:graphicData>
        </a:graphic>
      </p:graphicFrame>
      <p:sp>
        <p:nvSpPr>
          <p:cNvPr id="28" name="TextBox 27">
            <a:extLst>
              <a:ext uri="{FF2B5EF4-FFF2-40B4-BE49-F238E27FC236}">
                <a16:creationId xmlns:a16="http://schemas.microsoft.com/office/drawing/2014/main" id="{3E577CF6-F220-DEDD-35A7-E14C50D87AA1}"/>
              </a:ext>
            </a:extLst>
          </p:cNvPr>
          <p:cNvSpPr txBox="1"/>
          <p:nvPr/>
        </p:nvSpPr>
        <p:spPr>
          <a:xfrm>
            <a:off x="2139798" y="28573135"/>
            <a:ext cx="8533312" cy="4955203"/>
          </a:xfrm>
          <a:prstGeom prst="rect">
            <a:avLst/>
          </a:prstGeom>
          <a:noFill/>
        </p:spPr>
        <p:txBody>
          <a:bodyPr wrap="square">
            <a:spAutoFit/>
          </a:bodyPr>
          <a:lstStyle/>
          <a:p>
            <a:pPr rtl="0">
              <a:spcAft>
                <a:spcPts val="800"/>
              </a:spcAft>
              <a:buNone/>
            </a:pPr>
            <a:r>
              <a:rPr lang="en-US" sz="3600" b="1" i="0" u="none" strike="noStrike" dirty="0">
                <a:solidFill>
                  <a:srgbClr val="000000"/>
                </a:solidFill>
                <a:effectLst/>
                <a:latin typeface="Times New Roman" panose="02020603050405020304" pitchFamily="18" charset="0"/>
                <a:cs typeface="Times New Roman" panose="02020603050405020304" pitchFamily="18" charset="0"/>
              </a:rPr>
              <a:t>Structural Configuration</a:t>
            </a:r>
            <a:endParaRPr lang="en-US" sz="3600" b="0" dirty="0">
              <a:effectLst/>
              <a:latin typeface="Times New Roman" panose="02020603050405020304" pitchFamily="18" charset="0"/>
              <a:cs typeface="Times New Roman" panose="02020603050405020304" pitchFamily="18" charset="0"/>
            </a:endParaRPr>
          </a:p>
          <a:p>
            <a:pPr algn="just" rtl="0">
              <a:spcAft>
                <a:spcPts val="800"/>
              </a:spcAft>
              <a:buNone/>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The hexapod’s chassis consists of a central hub, two side plates, and six articulated legs symmetrically positioned at 60° intervals. Each leg has:</a:t>
            </a:r>
            <a:endParaRPr lang="en-US" sz="2400" b="0" dirty="0">
              <a:effectLst/>
              <a:latin typeface="Times New Roman" panose="02020603050405020304" pitchFamily="18" charset="0"/>
              <a:cs typeface="Times New Roman" panose="02020603050405020304" pitchFamily="18" charset="0"/>
            </a:endParaRPr>
          </a:p>
          <a:p>
            <a:pPr algn="just" rtl="0" fontAlgn="base">
              <a:spcAft>
                <a:spcPts val="8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 Coxa joint: horizontal rotation (yaw)</a:t>
            </a:r>
          </a:p>
          <a:p>
            <a:pPr algn="just" rtl="0" fontAlgn="base">
              <a:spcAft>
                <a:spcPts val="8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 Femur joint: vertical lift (pitch)</a:t>
            </a:r>
          </a:p>
          <a:p>
            <a:pPr algn="just" rtl="0" fontAlgn="base">
              <a:spcAft>
                <a:spcPts val="8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 Tibia joint: forward extension (pitch)</a:t>
            </a:r>
          </a:p>
          <a:p>
            <a:pPr algn="just" rtl="0">
              <a:spcAft>
                <a:spcPts val="800"/>
              </a:spcAft>
              <a:buNone/>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This configuration offers a large working envelope while maintaining a low center of gravity.</a:t>
            </a:r>
            <a:endParaRPr lang="en-US" sz="2400" b="0" dirty="0">
              <a:effectLst/>
              <a:latin typeface="Times New Roman" panose="02020603050405020304" pitchFamily="18" charset="0"/>
              <a:cs typeface="Times New Roman" panose="02020603050405020304" pitchFamily="18" charset="0"/>
            </a:endParaRPr>
          </a:p>
          <a:p>
            <a:pPr>
              <a:buNone/>
            </a:pPr>
            <a:br>
              <a:rPr lang="en-US" sz="2400" dirty="0"/>
            </a:br>
            <a:endParaRPr lang="en-IN" sz="2400" dirty="0"/>
          </a:p>
        </p:txBody>
      </p:sp>
      <p:sp>
        <p:nvSpPr>
          <p:cNvPr id="33" name="Textplatzhalter 5">
            <a:extLst>
              <a:ext uri="{FF2B5EF4-FFF2-40B4-BE49-F238E27FC236}">
                <a16:creationId xmlns:a16="http://schemas.microsoft.com/office/drawing/2014/main" id="{8998A29F-18BA-A9CA-3DCE-4A73FEF743F2}"/>
              </a:ext>
            </a:extLst>
          </p:cNvPr>
          <p:cNvSpPr txBox="1">
            <a:spLocks/>
          </p:cNvSpPr>
          <p:nvPr/>
        </p:nvSpPr>
        <p:spPr>
          <a:xfrm>
            <a:off x="18958898" y="26196502"/>
            <a:ext cx="10274111" cy="914400"/>
          </a:xfrm>
          <a:prstGeom prst="rect">
            <a:avLst/>
          </a:prstGeom>
          <a:solidFill>
            <a:srgbClr val="322F8C"/>
          </a:solidFill>
        </p:spPr>
        <p:txBody>
          <a:bodyPr vert="horz" lIns="0" tIns="0" rIns="0" bIns="0" anchor="ctr" anchorCtr="0"/>
          <a:lstStyle>
            <a:lvl1pPr>
              <a:buNone/>
              <a:defRPr sz="6000" b="0" i="0">
                <a:latin typeface="AGaramond BoldItalic"/>
                <a:cs typeface="AGaramond BoldItalic"/>
              </a:defRPr>
            </a:lvl1pPr>
            <a:lvl2pPr>
              <a:buNone/>
              <a:defRPr/>
            </a:lvl2pPr>
            <a:lvl3pPr>
              <a:buNone/>
              <a:defRPr/>
            </a:lvl3pPr>
            <a:lvl4pPr>
              <a:buNone/>
              <a:defRPr/>
            </a:lvl4pPr>
            <a:lvl5pPr>
              <a:buNone/>
              <a:defRPr/>
            </a:lvl5pPr>
          </a:lstStyle>
          <a:p>
            <a:pPr marL="304800" marR="0" lvl="0" algn="l" defTabSz="2087941" rtl="0" eaLnBrk="1" fontAlgn="auto" latinLnBrk="0" hangingPunct="1">
              <a:lnSpc>
                <a:spcPct val="100000"/>
              </a:lnSpc>
              <a:spcBef>
                <a:spcPct val="20000"/>
              </a:spcBef>
              <a:spcAft>
                <a:spcPts val="0"/>
              </a:spcAft>
              <a:buClrTx/>
              <a:buSzTx/>
              <a:buFont typeface="Arial"/>
              <a:buNone/>
              <a:tabLst/>
              <a:defRPr/>
            </a:pPr>
            <a:r>
              <a:rPr lang="de-DE" b="1" dirty="0">
                <a:solidFill>
                  <a:schemeClr val="bg1"/>
                </a:solidFill>
                <a:latin typeface="Times New Roman" pitchFamily="18" charset="0"/>
                <a:cs typeface="Times New Roman" pitchFamily="18" charset="0"/>
              </a:rPr>
              <a:t>Prototpye</a:t>
            </a:r>
            <a:endParaRPr kumimoji="0" lang="de-DE" sz="6000" b="1"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p:txBody>
      </p:sp>
      <p:sp>
        <p:nvSpPr>
          <p:cNvPr id="35" name="Rechteck 145">
            <a:extLst>
              <a:ext uri="{FF2B5EF4-FFF2-40B4-BE49-F238E27FC236}">
                <a16:creationId xmlns:a16="http://schemas.microsoft.com/office/drawing/2014/main" id="{035E8B79-8834-A1B8-2C4C-AAF8F6DA9D9A}"/>
              </a:ext>
            </a:extLst>
          </p:cNvPr>
          <p:cNvSpPr/>
          <p:nvPr/>
        </p:nvSpPr>
        <p:spPr>
          <a:xfrm>
            <a:off x="18982136" y="26253645"/>
            <a:ext cx="10274111" cy="8181683"/>
          </a:xfrm>
          <a:prstGeom prst="rect">
            <a:avLst/>
          </a:prstGeom>
          <a:noFill/>
          <a:ln w="76200">
            <a:solidFill>
              <a:srgbClr val="322F8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latin typeface="Times New Roman" pitchFamily="18" charset="0"/>
              <a:cs typeface="Times New Roman" pitchFamily="18" charset="0"/>
            </a:endParaRPr>
          </a:p>
        </p:txBody>
      </p:sp>
      <p:pic>
        <p:nvPicPr>
          <p:cNvPr id="16" name="Picture 15" descr="A black robot with many wires&#10;&#10;AI-generated content may be incorrect.">
            <a:extLst>
              <a:ext uri="{FF2B5EF4-FFF2-40B4-BE49-F238E27FC236}">
                <a16:creationId xmlns:a16="http://schemas.microsoft.com/office/drawing/2014/main" id="{A2E0B0DD-4453-2536-2F1B-3F04B2A14D7E}"/>
              </a:ext>
            </a:extLst>
          </p:cNvPr>
          <p:cNvPicPr>
            <a:picLocks noChangeAspect="1"/>
          </p:cNvPicPr>
          <p:nvPr/>
        </p:nvPicPr>
        <p:blipFill>
          <a:blip r:embed="rId5"/>
          <a:stretch>
            <a:fillRect/>
          </a:stretch>
        </p:blipFill>
        <p:spPr>
          <a:xfrm>
            <a:off x="19235483" y="27175222"/>
            <a:ext cx="3865758" cy="2899319"/>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362822-FF33-D4EF-2E9B-62CF3F2FDA43}"/>
                  </a:ext>
                </a:extLst>
              </p:cNvPr>
              <p:cNvSpPr txBox="1"/>
              <p:nvPr/>
            </p:nvSpPr>
            <p:spPr>
              <a:xfrm>
                <a:off x="16433750" y="6977507"/>
                <a:ext cx="12458669" cy="4437369"/>
              </a:xfrm>
              <a:prstGeom prst="rect">
                <a:avLst/>
              </a:prstGeom>
              <a:noFill/>
            </p:spPr>
            <p:txBody>
              <a:bodyPr wrap="square">
                <a:spAutoFit/>
              </a:bodyPr>
              <a:lstStyle/>
              <a:p>
                <a:pPr>
                  <a:lnSpc>
                    <a:spcPct val="107000"/>
                  </a:lnSpc>
                  <a:spcAft>
                    <a:spcPts val="800"/>
                  </a:spcAft>
                  <a:buNone/>
                </a:pP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A. Kinematic Model</a:t>
                </a:r>
              </a:p>
              <a:p>
                <a:pPr>
                  <a:lnSpc>
                    <a:spcPct val="107000"/>
                  </a:lnSpc>
                  <a:spcAft>
                    <a:spcPts val="800"/>
                  </a:spcAft>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Each leg functions as a </a:t>
                </a: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3-link serial manipulator</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07000"/>
                  </a:lnSpc>
                  <a:spcAft>
                    <a:spcPts val="800"/>
                  </a:spcAft>
                  <a:buSzPts val="1000"/>
                  <a:buFont typeface="Wingdings" panose="05000000000000000000" pitchFamily="2" charset="2"/>
                  <a:buChar char="v"/>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L₁ = Coxa length = 60 mm</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07000"/>
                  </a:lnSpc>
                  <a:spcAft>
                    <a:spcPts val="800"/>
                  </a:spcAft>
                  <a:buSzPts val="1000"/>
                  <a:buFont typeface="Wingdings" panose="05000000000000000000" pitchFamily="2" charset="2"/>
                  <a:buChar char="v"/>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L₂ = Femur length = 90 mm</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07000"/>
                  </a:lnSpc>
                  <a:spcAft>
                    <a:spcPts val="800"/>
                  </a:spcAft>
                  <a:buSzPts val="1000"/>
                  <a:buFont typeface="Wingdings" panose="05000000000000000000" pitchFamily="2" charset="2"/>
                  <a:buChar char="v"/>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L₃ = Tibia length = 110 mm</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Using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Denavit</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Hartenberg</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(D-H) parameters, the position of the foot (P) in 3D space is:</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sz="2600" i="1">
                          <a:effectLst/>
                          <a:latin typeface="Cambria Math" panose="02040503050406030204" pitchFamily="18" charset="0"/>
                          <a:ea typeface="Calibri" panose="020F0502020204030204" pitchFamily="34" charset="0"/>
                          <a:cs typeface="Times New Roman" panose="02020603050405020304" pitchFamily="18" charset="0"/>
                        </a:rPr>
                        <m:t>𝑃</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r>
                        <a:rPr lang="en-IN" sz="2600" i="1">
                          <a:effectLst/>
                          <a:latin typeface="Cambria Math" panose="02040503050406030204" pitchFamily="18" charset="0"/>
                          <a:ea typeface="Calibri" panose="020F0502020204030204" pitchFamily="34" charset="0"/>
                          <a:cs typeface="Times New Roman" panose="02020603050405020304" pitchFamily="18" charset="0"/>
                        </a:rPr>
                        <m:t>𝑥</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r>
                        <a:rPr lang="en-IN" sz="2600" i="1">
                          <a:effectLst/>
                          <a:latin typeface="Cambria Math" panose="02040503050406030204" pitchFamily="18" charset="0"/>
                          <a:ea typeface="Calibri" panose="020F0502020204030204" pitchFamily="34" charset="0"/>
                          <a:cs typeface="Times New Roman" panose="02020603050405020304" pitchFamily="18" charset="0"/>
                        </a:rPr>
                        <m:t>𝑦</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r>
                        <a:rPr lang="en-IN" sz="2600" i="1">
                          <a:effectLst/>
                          <a:latin typeface="Cambria Math" panose="02040503050406030204" pitchFamily="18" charset="0"/>
                          <a:ea typeface="Calibri" panose="020F0502020204030204" pitchFamily="34" charset="0"/>
                          <a:cs typeface="Times New Roman" panose="02020603050405020304" pitchFamily="18" charset="0"/>
                        </a:rPr>
                        <m:t>𝑧</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r>
                        <a:rPr lang="en-IN" sz="2600" i="1">
                          <a:effectLst/>
                          <a:latin typeface="Cambria Math" panose="02040503050406030204" pitchFamily="18" charset="0"/>
                          <a:ea typeface="Calibri" panose="020F0502020204030204" pitchFamily="34" charset="0"/>
                          <a:cs typeface="Times New Roman" panose="02020603050405020304" pitchFamily="18" charset="0"/>
                        </a:rPr>
                        <m:t>𝑇</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eqArr>
                        <m:eqArrPr>
                          <m:ctrlPr>
                            <a:rPr lang="en-IN" sz="2600" i="1">
                              <a:effectLst/>
                              <a:latin typeface="Cambria Math" panose="02040503050406030204" pitchFamily="18" charset="0"/>
                              <a:cs typeface="Times New Roman" panose="02020603050405020304" pitchFamily="18" charset="0"/>
                            </a:rPr>
                          </m:ctrlPr>
                        </m:eqArrPr>
                        <m:e>
                          <m:r>
                            <a:rPr lang="en-IN" sz="2600" i="1">
                              <a:effectLst/>
                              <a:latin typeface="Cambria Math" panose="02040503050406030204" pitchFamily="18" charset="0"/>
                              <a:ea typeface="Calibri" panose="020F0502020204030204" pitchFamily="34" charset="0"/>
                              <a:cs typeface="Times New Roman" panose="02020603050405020304" pitchFamily="18" charset="0"/>
                            </a:rPr>
                            <m:t>𝑥</m:t>
                          </m:r>
                        </m:e>
                        <m:e>
                          <m:r>
                            <a:rPr lang="en-IN" sz="2600" i="1">
                              <a:effectLst/>
                              <a:latin typeface="Cambria Math" panose="02040503050406030204" pitchFamily="18" charset="0"/>
                              <a:ea typeface="Calibri" panose="020F0502020204030204" pitchFamily="34" charset="0"/>
                              <a:cs typeface="Times New Roman" panose="02020603050405020304" pitchFamily="18" charset="0"/>
                            </a:rPr>
                            <m:t>𝑦</m:t>
                          </m:r>
                        </m:e>
                        <m:e>
                          <m:r>
                            <a:rPr lang="en-IN" sz="2600" i="1">
                              <a:effectLst/>
                              <a:latin typeface="Cambria Math" panose="02040503050406030204" pitchFamily="18" charset="0"/>
                              <a:ea typeface="Calibri" panose="020F0502020204030204" pitchFamily="34" charset="0"/>
                              <a:cs typeface="Times New Roman" panose="02020603050405020304" pitchFamily="18" charset="0"/>
                            </a:rPr>
                            <m:t>𝑧</m:t>
                          </m:r>
                        </m:e>
                      </m:eqAr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eqArr>
                        <m:eqArrPr>
                          <m:ctrlPr>
                            <a:rPr lang="en-IN" sz="2600" i="1">
                              <a:effectLst/>
                              <a:latin typeface="Cambria Math" panose="02040503050406030204" pitchFamily="18" charset="0"/>
                              <a:cs typeface="Times New Roman" panose="02020603050405020304" pitchFamily="18" charset="0"/>
                            </a:rPr>
                          </m:ctrlPr>
                        </m:eqArrPr>
                        <m:e>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cos</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cos</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3</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cos</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e>
                        <m:e>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sin</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sin</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3</m:t>
                              </m:r>
                            </m:sub>
                          </m:sSub>
                          <m:r>
                            <m:rPr>
                              <m:sty m:val="p"/>
                            </m:rPr>
                            <a:rPr lang="en-IN" sz="2600">
                              <a:effectLst/>
                              <a:latin typeface="Cambria Math" panose="02040503050406030204" pitchFamily="18" charset="0"/>
                              <a:ea typeface="Calibri" panose="020F0502020204030204" pitchFamily="34" charset="0"/>
                              <a:cs typeface="Times New Roman" panose="02020603050405020304" pitchFamily="18" charset="0"/>
                            </a:rPr>
                            <m:t>sin</m:t>
                          </m: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en-IN" sz="2600" i="1">
                              <a:effectLst/>
                              <a:latin typeface="Cambria Math" panose="02040503050406030204" pitchFamily="18" charset="0"/>
                              <a:ea typeface="Calibri" panose="020F0502020204030204" pitchFamily="34" charset="0"/>
                              <a:cs typeface="Times New Roman" panose="02020603050405020304" pitchFamily="18" charset="0"/>
                            </a:rPr>
                            <m:t>)</m:t>
                          </m:r>
                        </m:e>
                        <m:e>
                          <m:sSub>
                            <m:sSubPr>
                              <m:ctrlPr>
                                <a:rPr lang="en-IN" sz="2600" i="1">
                                  <a:effectLst/>
                                  <a:latin typeface="Cambria Math" panose="02040503050406030204" pitchFamily="18" charset="0"/>
                                  <a:cs typeface="Times New Roman" panose="02020603050405020304" pitchFamily="18" charset="0"/>
                                </a:rPr>
                              </m:ctrlPr>
                            </m:sSubPr>
                            <m:e>
                              <m:r>
                                <a:rPr lang="en-IN" sz="2600" i="1">
                                  <a:effectLst/>
                                  <a:latin typeface="Cambria Math" panose="02040503050406030204" pitchFamily="18" charset="0"/>
                                  <a:ea typeface="Calibri" panose="020F0502020204030204" pitchFamily="34" charset="0"/>
                                  <a:cs typeface="Times New Roman" panose="02020603050405020304" pitchFamily="18" charset="0"/>
                                </a:rPr>
                                <m:t>𝑧</m:t>
                              </m:r>
                            </m:e>
                            <m:sub>
                              <m:r>
                                <a:rPr lang="en-IN" sz="2600" i="1">
                                  <a:effectLst/>
                                  <a:latin typeface="Cambria Math" panose="02040503050406030204" pitchFamily="18" charset="0"/>
                                  <a:ea typeface="Calibri" panose="020F0502020204030204" pitchFamily="34" charset="0"/>
                                  <a:cs typeface="Times New Roman" panose="02020603050405020304" pitchFamily="18" charset="0"/>
                                </a:rPr>
                                <m:t>0</m:t>
                              </m:r>
                            </m:sub>
                          </m:sSub>
                        </m:e>
                      </m:eqArr>
                      <m:r>
                        <a:rPr lang="en-IN" sz="26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2600" dirty="0"/>
              </a:p>
            </p:txBody>
          </p:sp>
        </mc:Choice>
        <mc:Fallback xmlns="">
          <p:sp>
            <p:nvSpPr>
              <p:cNvPr id="17" name="TextBox 16">
                <a:extLst>
                  <a:ext uri="{FF2B5EF4-FFF2-40B4-BE49-F238E27FC236}">
                    <a16:creationId xmlns:a16="http://schemas.microsoft.com/office/drawing/2014/main" id="{05362822-FF33-D4EF-2E9B-62CF3F2FDA43}"/>
                  </a:ext>
                </a:extLst>
              </p:cNvPr>
              <p:cNvSpPr txBox="1">
                <a:spLocks noRot="1" noChangeAspect="1" noMove="1" noResize="1" noEditPoints="1" noAdjustHandles="1" noChangeArrowheads="1" noChangeShapeType="1" noTextEdit="1"/>
              </p:cNvSpPr>
              <p:nvPr/>
            </p:nvSpPr>
            <p:spPr>
              <a:xfrm>
                <a:off x="16433750" y="6977507"/>
                <a:ext cx="12458669" cy="4437369"/>
              </a:xfrm>
              <a:prstGeom prst="rect">
                <a:avLst/>
              </a:prstGeom>
              <a:blipFill>
                <a:blip r:embed="rId12"/>
                <a:stretch>
                  <a:fillRect l="-881" t="-1374"/>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970C1D7-4139-B69A-664F-D1D4F99AFF7F}"/>
              </a:ext>
            </a:extLst>
          </p:cNvPr>
          <p:cNvSpPr txBox="1"/>
          <p:nvPr/>
        </p:nvSpPr>
        <p:spPr>
          <a:xfrm>
            <a:off x="16433750" y="11320761"/>
            <a:ext cx="12169352" cy="3114699"/>
          </a:xfrm>
          <a:prstGeom prst="rect">
            <a:avLst/>
          </a:prstGeom>
          <a:noFill/>
        </p:spPr>
        <p:txBody>
          <a:bodyPr wrap="square">
            <a:spAutoFit/>
          </a:bodyPr>
          <a:lstStyle/>
          <a:p>
            <a:pPr>
              <a:lnSpc>
                <a:spcPct val="107000"/>
              </a:lnSpc>
              <a:spcAft>
                <a:spcPts val="800"/>
              </a:spcAft>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B. Gait Planning</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Three primary gaits were implemented:</a:t>
            </a:r>
          </a:p>
          <a:p>
            <a:pPr marL="342900" lvl="0" indent="-342900">
              <a:lnSpc>
                <a:spcPct val="107000"/>
              </a:lnSpc>
              <a:spcAft>
                <a:spcPts val="800"/>
              </a:spcAft>
              <a:buFont typeface="+mj-lt"/>
              <a:buAutoNum type="arabicPeriod"/>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Tripod Gait: 3 legs move while 3 support the body (fast and efficient).</a:t>
            </a:r>
          </a:p>
          <a:p>
            <a:pPr marL="342900" lvl="0" indent="-342900">
              <a:lnSpc>
                <a:spcPct val="107000"/>
              </a:lnSpc>
              <a:spcAft>
                <a:spcPts val="800"/>
              </a:spcAft>
              <a:buFont typeface="+mj-lt"/>
              <a:buAutoNum type="arabicPeriod"/>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Ripple Gait: Sequential leg motion (smooth, stable on rough terrain).</a:t>
            </a:r>
          </a:p>
          <a:p>
            <a:pPr marL="342900" lvl="0" indent="-342900">
              <a:lnSpc>
                <a:spcPct val="107000"/>
              </a:lnSpc>
              <a:spcAft>
                <a:spcPts val="800"/>
              </a:spcAft>
              <a:buFont typeface="+mj-lt"/>
              <a:buAutoNum type="arabicPeriod"/>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Wave Gait: One leg at a time (high stability, low speed).</a:t>
            </a:r>
          </a:p>
          <a:p>
            <a:pPr>
              <a:lnSpc>
                <a:spcPct val="107000"/>
              </a:lnSpc>
              <a:spcAft>
                <a:spcPts val="800"/>
              </a:spcAft>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Each gait cycle is time-synchronized using sinusoidal position functions</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D173A2CD-9127-D6A7-9768-C5987A11769A}"/>
                  </a:ext>
                </a:extLst>
              </p:cNvPr>
              <p:cNvSpPr txBox="1"/>
              <p:nvPr/>
            </p:nvSpPr>
            <p:spPr>
              <a:xfrm>
                <a:off x="25069709" y="14453906"/>
                <a:ext cx="3914927" cy="590098"/>
              </a:xfrm>
              <a:prstGeom prst="rect">
                <a:avLst/>
              </a:prstGeom>
              <a:noFill/>
            </p:spPr>
            <p:txBody>
              <a:bodyPr wrap="square">
                <a:spAutoFit/>
              </a:bodyPr>
              <a:lstStyle/>
              <a:p>
                <a:pPr>
                  <a:lnSpc>
                    <a:spcPct val="107000"/>
                  </a:lnSpc>
                  <a:spcAft>
                    <a:spcPts val="800"/>
                  </a:spcAft>
                  <a:buNone/>
                </a:pPr>
                <a14:m>
                  <m:oMathPara xmlns:m="http://schemas.openxmlformats.org/officeDocument/2006/math">
                    <m:oMathParaPr>
                      <m:jc m:val="center"/>
                    </m:oMathParaPr>
                    <m:oMath xmlns:m="http://schemas.openxmlformats.org/officeDocument/2006/math">
                      <m:sSub>
                        <m:sSubPr>
                          <m:ctrlPr>
                            <a:rPr lang="en-IN" sz="24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𝜃</m:t>
                          </m:r>
                        </m:e>
                        <m: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𝑡</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𝐴</m:t>
                          </m:r>
                        </m:e>
                        <m: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𝑠𝑖𝑛</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𝜔</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𝑡</m:t>
                      </m:r>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𝜑</m:t>
                          </m:r>
                        </m:e>
                        <m: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2400" b="0" i="1" kern="10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23" name="TextBox 22">
                <a:extLst>
                  <a:ext uri="{FF2B5EF4-FFF2-40B4-BE49-F238E27FC236}">
                    <a16:creationId xmlns:a16="http://schemas.microsoft.com/office/drawing/2014/main" id="{D173A2CD-9127-D6A7-9768-C5987A11769A}"/>
                  </a:ext>
                </a:extLst>
              </p:cNvPr>
              <p:cNvSpPr txBox="1">
                <a:spLocks noRot="1" noChangeAspect="1" noMove="1" noResize="1" noEditPoints="1" noAdjustHandles="1" noChangeArrowheads="1" noChangeShapeType="1" noTextEdit="1"/>
              </p:cNvSpPr>
              <p:nvPr/>
            </p:nvSpPr>
            <p:spPr>
              <a:xfrm>
                <a:off x="25069709" y="14453906"/>
                <a:ext cx="3914927" cy="590098"/>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D54D5CA0-2029-1433-2FC6-3BE2284C2904}"/>
                  </a:ext>
                </a:extLst>
              </p:cNvPr>
              <p:cNvSpPr txBox="1"/>
              <p:nvPr/>
            </p:nvSpPr>
            <p:spPr>
              <a:xfrm>
                <a:off x="19037182" y="20512233"/>
                <a:ext cx="10136149" cy="4636269"/>
              </a:xfrm>
              <a:prstGeom prst="rect">
                <a:avLst/>
              </a:prstGeom>
              <a:noFill/>
            </p:spPr>
            <p:txBody>
              <a:bodyPr wrap="square">
                <a:spAutoFit/>
              </a:bodyPr>
              <a:lstStyle/>
              <a:p>
                <a:pPr>
                  <a:lnSpc>
                    <a:spcPct val="107000"/>
                  </a:lnSpc>
                  <a:spcAft>
                    <a:spcPts val="800"/>
                  </a:spcAft>
                  <a:buNone/>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Control Software</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The control system operates on layered architecture:</a:t>
                </a:r>
              </a:p>
              <a:p>
                <a:pPr marL="342900" lvl="0" indent="-342900">
                  <a:lnSpc>
                    <a:spcPct val="107000"/>
                  </a:lnSpc>
                  <a:spcAft>
                    <a:spcPts val="800"/>
                  </a:spcAft>
                  <a:buFont typeface="+mj-lt"/>
                  <a:buAutoNum type="arabicPeriod"/>
                  <a:tabLst>
                    <a:tab pos="457200" algn="l"/>
                  </a:tabLs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Low-level firmware: generates servo PWM signals.</a:t>
                </a:r>
              </a:p>
              <a:p>
                <a:pPr marL="342900" lvl="0" indent="-342900">
                  <a:lnSpc>
                    <a:spcPct val="107000"/>
                  </a:lnSpc>
                  <a:spcAft>
                    <a:spcPts val="800"/>
                  </a:spcAft>
                  <a:buFont typeface="+mj-lt"/>
                  <a:buAutoNum type="arabicPeriod"/>
                  <a:tabLst>
                    <a:tab pos="457200" algn="l"/>
                  </a:tabLs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Mid-level gait engine: computes phase-offset trajectories.</a:t>
                </a:r>
              </a:p>
              <a:p>
                <a:pPr marL="342900" lvl="0" indent="-342900">
                  <a:lnSpc>
                    <a:spcPct val="107000"/>
                  </a:lnSpc>
                  <a:spcAft>
                    <a:spcPts val="800"/>
                  </a:spcAft>
                  <a:buFont typeface="+mj-lt"/>
                  <a:buAutoNum type="arabicPeriod"/>
                  <a:tabLst>
                    <a:tab pos="457200" algn="l"/>
                  </a:tabLs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High-level autonomy layer: obstacle avoidance and IMU stabilization.</a:t>
                </a:r>
              </a:p>
              <a:p>
                <a:pPr>
                  <a:lnSpc>
                    <a:spcPct val="107000"/>
                  </a:lnSpc>
                  <a:spcAft>
                    <a:spcPts val="800"/>
                  </a:spcAft>
                  <a:buNone/>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A basic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PID loop</a:t>
                </a: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 stabilizes roll and pitch using IMU feedback:</a:t>
                </a:r>
              </a:p>
              <a:p>
                <a:pPr>
                  <a:buNone/>
                </a:pPr>
                <a14:m>
                  <m:oMathPara xmlns:m="http://schemas.openxmlformats.org/officeDocument/2006/math">
                    <m:oMathParaPr>
                      <m:jc m:val="centerGroup"/>
                    </m:oMathParaPr>
                    <m:oMath xmlns:m="http://schemas.openxmlformats.org/officeDocument/2006/math">
                      <m:r>
                        <m:rPr>
                          <m:sty m:val="p"/>
                        </m:rPr>
                        <a:rPr lang="en-IN" sz="2400">
                          <a:effectLst/>
                          <a:latin typeface="Cambria Math" panose="02040503050406030204" pitchFamily="18" charset="0"/>
                          <a:ea typeface="Calibri" panose="020F0502020204030204" pitchFamily="34" charset="0"/>
                          <a:cs typeface="Times New Roman" panose="02020603050405020304" pitchFamily="18" charset="0"/>
                        </a:rPr>
                        <m:t>Δ</m:t>
                      </m:r>
                      <m:r>
                        <a:rPr lang="en-IN" sz="2400" i="1">
                          <a:effectLst/>
                          <a:latin typeface="Cambria Math" panose="02040503050406030204" pitchFamily="18" charset="0"/>
                          <a:ea typeface="Calibri" panose="020F0502020204030204" pitchFamily="34" charset="0"/>
                          <a:cs typeface="Times New Roman" panose="02020603050405020304" pitchFamily="18" charset="0"/>
                        </a:rPr>
                        <m:t>𝜃</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cs typeface="Times New Roman" panose="02020603050405020304" pitchFamily="18" charset="0"/>
                            </a:rPr>
                          </m:ctrlPr>
                        </m:sSubPr>
                        <m:e>
                          <m:r>
                            <a:rPr lang="en-IN" sz="2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n-IN" sz="2400" i="1">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IN" sz="2400" i="1">
                          <a:effectLst/>
                          <a:latin typeface="Cambria Math" panose="02040503050406030204" pitchFamily="18" charset="0"/>
                          <a:ea typeface="Calibri" panose="020F0502020204030204" pitchFamily="34" charset="0"/>
                          <a:cs typeface="Times New Roman" panose="02020603050405020304" pitchFamily="18" charset="0"/>
                        </a:rPr>
                        <m:t>𝑒</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cs typeface="Times New Roman" panose="02020603050405020304" pitchFamily="18" charset="0"/>
                            </a:rPr>
                          </m:ctrlPr>
                        </m:sSubPr>
                        <m:e>
                          <m:r>
                            <a:rPr lang="en-IN" sz="2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n-IN" sz="2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2400" i="1">
                          <a:effectLst/>
                          <a:latin typeface="Cambria Math" panose="02040503050406030204" pitchFamily="18" charset="0"/>
                          <a:ea typeface="Calibri" panose="020F0502020204030204" pitchFamily="34" charset="0"/>
                          <a:cs typeface="Times New Roman" panose="02020603050405020304" pitchFamily="18" charset="0"/>
                        </a:rPr>
                        <m:t>∫</m:t>
                      </m:r>
                      <m:r>
                        <a:rPr lang="en-IN" sz="2400" i="1">
                          <a:effectLst/>
                          <a:latin typeface="Cambria Math" panose="02040503050406030204" pitchFamily="18" charset="0"/>
                          <a:ea typeface="Calibri" panose="020F0502020204030204" pitchFamily="34" charset="0"/>
                          <a:cs typeface="Times New Roman" panose="02020603050405020304" pitchFamily="18" charset="0"/>
                        </a:rPr>
                        <m:t>𝑒</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cs typeface="Times New Roman" panose="02020603050405020304" pitchFamily="18" charset="0"/>
                            </a:rPr>
                          </m:ctrlPr>
                        </m:sSubPr>
                        <m:e>
                          <m:r>
                            <a:rPr lang="en-IN" sz="2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n-IN" sz="24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n-IN" sz="2400" i="1">
                              <a:effectLst/>
                              <a:latin typeface="Cambria Math" panose="02040503050406030204" pitchFamily="18" charset="0"/>
                              <a:cs typeface="Times New Roman" panose="02020603050405020304" pitchFamily="18" charset="0"/>
                            </a:rPr>
                          </m:ctrlPr>
                        </m:fPr>
                        <m:num>
                          <m:r>
                            <a:rPr lang="en-IN" sz="2400" i="1">
                              <a:effectLst/>
                              <a:latin typeface="Cambria Math" panose="02040503050406030204" pitchFamily="18" charset="0"/>
                              <a:ea typeface="Calibri" panose="020F0502020204030204" pitchFamily="34" charset="0"/>
                              <a:cs typeface="Times New Roman" panose="02020603050405020304" pitchFamily="18" charset="0"/>
                            </a:rPr>
                            <m:t>𝑑𝑒</m:t>
                          </m:r>
                        </m:num>
                        <m:den>
                          <m:r>
                            <a:rPr lang="en-IN" sz="2400" i="1">
                              <a:effectLst/>
                              <a:latin typeface="Cambria Math" panose="02040503050406030204" pitchFamily="18" charset="0"/>
                              <a:ea typeface="Calibri" panose="020F0502020204030204" pitchFamily="34" charset="0"/>
                              <a:cs typeface="Times New Roman" panose="02020603050405020304" pitchFamily="18" charset="0"/>
                            </a:rPr>
                            <m:t>𝑑𝑡</m:t>
                          </m:r>
                        </m:den>
                      </m:f>
                    </m:oMath>
                  </m:oMathPara>
                </a14:m>
                <a:endParaRPr lang="en-US" sz="2400" dirty="0">
                  <a:latin typeface="Times New Roman" panose="02020603050405020304" pitchFamily="18" charset="0"/>
                  <a:cs typeface="Times New Roman" panose="02020603050405020304" pitchFamily="18" charset="0"/>
                </a:endParaRPr>
              </a:p>
            </p:txBody>
          </p:sp>
        </mc:Choice>
        <mc:Fallback>
          <p:sp>
            <p:nvSpPr>
              <p:cNvPr id="25" name="TextBox 24">
                <a:extLst>
                  <a:ext uri="{FF2B5EF4-FFF2-40B4-BE49-F238E27FC236}">
                    <a16:creationId xmlns:a16="http://schemas.microsoft.com/office/drawing/2014/main" id="{D54D5CA0-2029-1433-2FC6-3BE2284C2904}"/>
                  </a:ext>
                </a:extLst>
              </p:cNvPr>
              <p:cNvSpPr txBox="1">
                <a:spLocks noRot="1" noChangeAspect="1" noMove="1" noResize="1" noEditPoints="1" noAdjustHandles="1" noChangeArrowheads="1" noChangeShapeType="1" noTextEdit="1"/>
              </p:cNvSpPr>
              <p:nvPr/>
            </p:nvSpPr>
            <p:spPr>
              <a:xfrm>
                <a:off x="19037182" y="20512233"/>
                <a:ext cx="10136149" cy="4636269"/>
              </a:xfrm>
              <a:prstGeom prst="rect">
                <a:avLst/>
              </a:prstGeom>
              <a:blipFill>
                <a:blip r:embed="rId14"/>
                <a:stretch>
                  <a:fillRect l="-1263" t="-14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B0280A0-593F-B9F9-8014-62646E7AC792}"/>
                  </a:ext>
                </a:extLst>
              </p:cNvPr>
              <p:cNvSpPr txBox="1"/>
              <p:nvPr/>
            </p:nvSpPr>
            <p:spPr>
              <a:xfrm>
                <a:off x="16475608" y="14467985"/>
                <a:ext cx="6574606" cy="4483663"/>
              </a:xfrm>
              <a:prstGeom prst="rect">
                <a:avLst/>
              </a:prstGeom>
              <a:noFill/>
            </p:spPr>
            <p:txBody>
              <a:bodyPr wrap="square">
                <a:spAutoFit/>
              </a:bodyPr>
              <a:lstStyle/>
              <a:p>
                <a:pPr>
                  <a:lnSpc>
                    <a:spcPct val="114000"/>
                  </a:lnSpc>
                  <a:spcAft>
                    <a:spcPts val="1200"/>
                  </a:spcAft>
                  <a:buNone/>
                </a:pPr>
                <a14:m>
                  <m:oMathPara xmlns:m="http://schemas.openxmlformats.org/officeDocument/2006/math">
                    <m:oMathParaPr>
                      <m:jc m:val="left"/>
                    </m:oMathParaPr>
                    <m:oMath xmlns:m="http://schemas.openxmlformats.org/officeDocument/2006/math">
                      <m:sSub>
                        <m:sSubPr>
                          <m:ctrlPr>
                            <a:rPr lang="en-IN" sz="2600" i="1" smtClean="0">
                              <a:solidFill>
                                <a:srgbClr val="1B1C1D"/>
                              </a:solidFill>
                              <a:effectLst/>
                              <a:latin typeface="Cambria Math" panose="02040503050406030204" pitchFamily="18" charset="0"/>
                              <a:ea typeface="Google Sans Text"/>
                              <a:cs typeface="Google Sans Text"/>
                            </a:rPr>
                          </m:ctrlPr>
                        </m:sSubPr>
                        <m:e>
                          <m:r>
                            <m:rPr>
                              <m:sty m:val="p"/>
                            </m:rPr>
                            <a:rPr lang="en-IN" sz="2600">
                              <a:solidFill>
                                <a:srgbClr val="1B1C1D"/>
                              </a:solidFill>
                              <a:effectLst/>
                              <a:latin typeface="Cambria Math" panose="02040503050406030204" pitchFamily="18" charset="0"/>
                              <a:ea typeface="Google Sans Text"/>
                              <a:cs typeface="Google Sans Text"/>
                            </a:rPr>
                            <m:t>θ</m:t>
                          </m:r>
                        </m:e>
                        <m:sub>
                          <m:r>
                            <a:rPr lang="en-IN" sz="2600" i="1">
                              <a:solidFill>
                                <a:srgbClr val="1B1C1D"/>
                              </a:solidFill>
                              <a:effectLst/>
                              <a:latin typeface="Cambria Math" panose="02040503050406030204" pitchFamily="18" charset="0"/>
                              <a:ea typeface="Google Sans Text"/>
                              <a:cs typeface="Google Sans Text"/>
                            </a:rPr>
                            <m:t>1</m:t>
                          </m:r>
                        </m:sub>
                      </m:sSub>
                      <m:r>
                        <a:rPr lang="en-IN" sz="2600" i="1">
                          <a:solidFill>
                            <a:srgbClr val="1B1C1D"/>
                          </a:solidFill>
                          <a:effectLst/>
                          <a:latin typeface="Cambria Math" panose="02040503050406030204" pitchFamily="18" charset="0"/>
                          <a:ea typeface="Google Sans Text"/>
                          <a:cs typeface="Google Sans Text"/>
                        </a:rPr>
                        <m:t>=</m:t>
                      </m:r>
                      <m:func>
                        <m:funcPr>
                          <m:ctrlPr>
                            <a:rPr lang="en-IN" sz="2600" i="1">
                              <a:solidFill>
                                <a:srgbClr val="1B1C1D"/>
                              </a:solidFill>
                              <a:effectLst/>
                              <a:latin typeface="Cambria Math" panose="02040503050406030204" pitchFamily="18" charset="0"/>
                              <a:ea typeface="Google Sans Text"/>
                              <a:cs typeface="Google Sans Text"/>
                            </a:rPr>
                          </m:ctrlPr>
                        </m:funcPr>
                        <m:fName>
                          <m:sSup>
                            <m:sSupPr>
                              <m:ctrlPr>
                                <a:rPr lang="en-IN" sz="2600" i="1">
                                  <a:solidFill>
                                    <a:srgbClr val="1B1C1D"/>
                                  </a:solidFill>
                                  <a:effectLst/>
                                  <a:latin typeface="Cambria Math" panose="02040503050406030204" pitchFamily="18" charset="0"/>
                                  <a:ea typeface="Google Sans Text"/>
                                  <a:cs typeface="Google Sans Text"/>
                                </a:rPr>
                              </m:ctrlPr>
                            </m:sSupPr>
                            <m:e>
                              <m:r>
                                <m:rPr>
                                  <m:sty m:val="p"/>
                                </m:rPr>
                                <a:rPr lang="en-IN" sz="2600">
                                  <a:solidFill>
                                    <a:srgbClr val="1B1C1D"/>
                                  </a:solidFill>
                                  <a:effectLst/>
                                  <a:latin typeface="Cambria Math" panose="02040503050406030204" pitchFamily="18" charset="0"/>
                                  <a:ea typeface="Google Sans Text"/>
                                  <a:cs typeface="Google Sans Text"/>
                                </a:rPr>
                                <m:t>tan</m:t>
                              </m:r>
                            </m:e>
                            <m:sup>
                              <m:r>
                                <a:rPr lang="en-IN" sz="2600" i="1">
                                  <a:solidFill>
                                    <a:srgbClr val="1B1C1D"/>
                                  </a:solidFill>
                                  <a:effectLst/>
                                  <a:latin typeface="Cambria Math" panose="02040503050406030204" pitchFamily="18" charset="0"/>
                                  <a:ea typeface="Google Sans Text"/>
                                  <a:cs typeface="Google Sans Text"/>
                                </a:rPr>
                                <m:t>−1</m:t>
                              </m:r>
                            </m:sup>
                          </m:sSup>
                        </m:fName>
                        <m:e>
                          <m:d>
                            <m:dPr>
                              <m:ctrlPr>
                                <a:rPr lang="en-IN" sz="2600" i="1">
                                  <a:solidFill>
                                    <a:srgbClr val="1B1C1D"/>
                                  </a:solidFill>
                                  <a:effectLst/>
                                  <a:latin typeface="Cambria Math" panose="02040503050406030204" pitchFamily="18" charset="0"/>
                                  <a:ea typeface="Google Sans Text"/>
                                  <a:cs typeface="Google Sans Text"/>
                                </a:rPr>
                              </m:ctrlPr>
                            </m:dPr>
                            <m:e>
                              <m:f>
                                <m:fPr>
                                  <m:ctrlPr>
                                    <a:rPr lang="en-IN" sz="2600" i="1">
                                      <a:solidFill>
                                        <a:srgbClr val="1B1C1D"/>
                                      </a:solidFill>
                                      <a:effectLst/>
                                      <a:latin typeface="Cambria Math" panose="02040503050406030204" pitchFamily="18" charset="0"/>
                                      <a:ea typeface="Google Sans Text"/>
                                      <a:cs typeface="Google Sans Text"/>
                                    </a:rPr>
                                  </m:ctrlPr>
                                </m:fPr>
                                <m:num>
                                  <m:r>
                                    <a:rPr lang="en-IN" sz="2600" i="1">
                                      <a:solidFill>
                                        <a:srgbClr val="1B1C1D"/>
                                      </a:solidFill>
                                      <a:effectLst/>
                                      <a:latin typeface="Cambria Math" panose="02040503050406030204" pitchFamily="18" charset="0"/>
                                      <a:ea typeface="Google Sans Text"/>
                                      <a:cs typeface="Google Sans Text"/>
                                    </a:rPr>
                                    <m:t>𝑌</m:t>
                                  </m:r>
                                </m:num>
                                <m:den>
                                  <m:r>
                                    <a:rPr lang="en-IN" sz="2600" i="1">
                                      <a:solidFill>
                                        <a:srgbClr val="1B1C1D"/>
                                      </a:solidFill>
                                      <a:effectLst/>
                                      <a:latin typeface="Cambria Math" panose="02040503050406030204" pitchFamily="18" charset="0"/>
                                      <a:ea typeface="Google Sans Text"/>
                                      <a:cs typeface="Google Sans Text"/>
                                    </a:rPr>
                                    <m:t>𝑋</m:t>
                                  </m:r>
                                </m:den>
                              </m:f>
                            </m:e>
                          </m:d>
                        </m:e>
                      </m:func>
                    </m:oMath>
                    <m:oMath xmlns:m="http://schemas.openxmlformats.org/officeDocument/2006/math">
                      <m:r>
                        <a:rPr lang="en-IN" sz="2600" i="1">
                          <a:solidFill>
                            <a:srgbClr val="1B1C1D"/>
                          </a:solidFill>
                          <a:effectLst/>
                          <a:latin typeface="Cambria Math" panose="02040503050406030204" pitchFamily="18" charset="0"/>
                          <a:ea typeface="Google Sans Text"/>
                          <a:cs typeface="Google Sans Text"/>
                        </a:rPr>
                        <m:t>𝑟</m:t>
                      </m:r>
                      <m:r>
                        <a:rPr lang="en-IN" sz="2600" i="1">
                          <a:solidFill>
                            <a:srgbClr val="1B1C1D"/>
                          </a:solidFill>
                          <a:effectLst/>
                          <a:latin typeface="Cambria Math" panose="02040503050406030204" pitchFamily="18" charset="0"/>
                          <a:ea typeface="Google Sans Text"/>
                          <a:cs typeface="Google Sans Text"/>
                        </a:rPr>
                        <m:t>=</m:t>
                      </m:r>
                      <m:rad>
                        <m:radPr>
                          <m:degHide m:val="on"/>
                          <m:ctrlPr>
                            <a:rPr lang="en-IN" sz="2600" i="1">
                              <a:solidFill>
                                <a:srgbClr val="1B1C1D"/>
                              </a:solidFill>
                              <a:effectLst/>
                              <a:latin typeface="Cambria Math" panose="02040503050406030204" pitchFamily="18" charset="0"/>
                              <a:ea typeface="Google Sans Text"/>
                              <a:cs typeface="Google Sans Text"/>
                            </a:rPr>
                          </m:ctrlPr>
                        </m:radPr>
                        <m:deg/>
                        <m:e>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𝑋</m:t>
                              </m:r>
                            </m:e>
                            <m:sup>
                              <m:r>
                                <a:rPr lang="en-IN" sz="2600" i="1">
                                  <a:solidFill>
                                    <a:srgbClr val="1B1C1D"/>
                                  </a:solidFill>
                                  <a:effectLst/>
                                  <a:latin typeface="Cambria Math" panose="02040503050406030204" pitchFamily="18" charset="0"/>
                                  <a:ea typeface="Google Sans Text"/>
                                  <a:cs typeface="Google Sans Text"/>
                                </a:rPr>
                                <m:t>2</m:t>
                              </m:r>
                            </m:sup>
                          </m:sSup>
                          <m:r>
                            <a:rPr lang="en-IN" sz="2600" i="1">
                              <a:solidFill>
                                <a:srgbClr val="1B1C1D"/>
                              </a:solidFill>
                              <a:effectLst/>
                              <a:latin typeface="Cambria Math" panose="02040503050406030204" pitchFamily="18" charset="0"/>
                              <a:ea typeface="Google Sans Text"/>
                              <a:cs typeface="Google Sans Text"/>
                            </a:rPr>
                            <m:t>+</m:t>
                          </m:r>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𝑌</m:t>
                              </m:r>
                            </m:e>
                            <m:sup>
                              <m:r>
                                <a:rPr lang="en-IN" sz="2600" i="1">
                                  <a:solidFill>
                                    <a:srgbClr val="1B1C1D"/>
                                  </a:solidFill>
                                  <a:effectLst/>
                                  <a:latin typeface="Cambria Math" panose="02040503050406030204" pitchFamily="18" charset="0"/>
                                  <a:ea typeface="Google Sans Text"/>
                                  <a:cs typeface="Google Sans Text"/>
                                </a:rPr>
                                <m:t>2</m:t>
                              </m:r>
                            </m:sup>
                          </m:sSup>
                        </m:e>
                      </m:rad>
                      <m:r>
                        <a:rPr lang="en-IN" sz="2600" i="1">
                          <a:solidFill>
                            <a:srgbClr val="1B1C1D"/>
                          </a:solidFill>
                          <a:effectLst/>
                          <a:latin typeface="Cambria Math" panose="02040503050406030204" pitchFamily="18" charset="0"/>
                          <a:ea typeface="Google Sans Text"/>
                          <a:cs typeface="Google Sans Text"/>
                        </a:rPr>
                        <m:t>−</m:t>
                      </m:r>
                      <m:sSub>
                        <m:sSubPr>
                          <m:ctrlPr>
                            <a:rPr lang="en-IN" sz="2600" i="1">
                              <a:solidFill>
                                <a:srgbClr val="1B1C1D"/>
                              </a:solidFill>
                              <a:effectLst/>
                              <a:latin typeface="Cambria Math" panose="02040503050406030204" pitchFamily="18" charset="0"/>
                              <a:ea typeface="Google Sans Text"/>
                              <a:cs typeface="Google Sans Text"/>
                            </a:rPr>
                          </m:ctrlPr>
                        </m:sSub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1</m:t>
                          </m:r>
                        </m:sub>
                      </m:sSub>
                    </m:oMath>
                    <m:oMath xmlns:m="http://schemas.openxmlformats.org/officeDocument/2006/math">
                      <m:r>
                        <a:rPr lang="en-IN" sz="2600" i="1">
                          <a:solidFill>
                            <a:srgbClr val="1B1C1D"/>
                          </a:solidFill>
                          <a:effectLst/>
                          <a:latin typeface="Cambria Math" panose="02040503050406030204" pitchFamily="18" charset="0"/>
                          <a:ea typeface="Google Sans Text"/>
                          <a:cs typeface="Google Sans Text"/>
                        </a:rPr>
                        <m:t>𝑑</m:t>
                      </m:r>
                      <m:r>
                        <a:rPr lang="en-IN" sz="2600" i="1">
                          <a:solidFill>
                            <a:srgbClr val="1B1C1D"/>
                          </a:solidFill>
                          <a:effectLst/>
                          <a:latin typeface="Cambria Math" panose="02040503050406030204" pitchFamily="18" charset="0"/>
                          <a:ea typeface="Google Sans Text"/>
                          <a:cs typeface="Google Sans Text"/>
                        </a:rPr>
                        <m:t>=</m:t>
                      </m:r>
                      <m:rad>
                        <m:radPr>
                          <m:degHide m:val="on"/>
                          <m:ctrlPr>
                            <a:rPr lang="en-IN" sz="2600" i="1">
                              <a:solidFill>
                                <a:srgbClr val="1B1C1D"/>
                              </a:solidFill>
                              <a:effectLst/>
                              <a:latin typeface="Cambria Math" panose="02040503050406030204" pitchFamily="18" charset="0"/>
                              <a:ea typeface="Google Sans Text"/>
                              <a:cs typeface="Google Sans Text"/>
                            </a:rPr>
                          </m:ctrlPr>
                        </m:radPr>
                        <m:deg/>
                        <m:e>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𝑟</m:t>
                              </m:r>
                            </m:e>
                            <m:sup>
                              <m:r>
                                <a:rPr lang="en-IN" sz="2600" i="1">
                                  <a:solidFill>
                                    <a:srgbClr val="1B1C1D"/>
                                  </a:solidFill>
                                  <a:effectLst/>
                                  <a:latin typeface="Cambria Math" panose="02040503050406030204" pitchFamily="18" charset="0"/>
                                  <a:ea typeface="Google Sans Text"/>
                                  <a:cs typeface="Google Sans Text"/>
                                </a:rPr>
                                <m:t>2</m:t>
                              </m:r>
                            </m:sup>
                          </m:sSup>
                          <m:r>
                            <a:rPr lang="en-IN" sz="2600" i="1">
                              <a:solidFill>
                                <a:srgbClr val="1B1C1D"/>
                              </a:solidFill>
                              <a:effectLst/>
                              <a:latin typeface="Cambria Math" panose="02040503050406030204" pitchFamily="18" charset="0"/>
                              <a:ea typeface="Google Sans Text"/>
                              <a:cs typeface="Google Sans Text"/>
                            </a:rPr>
                            <m:t>+</m:t>
                          </m:r>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𝑍</m:t>
                              </m:r>
                            </m:e>
                            <m:sup>
                              <m:r>
                                <a:rPr lang="en-IN" sz="2600" i="1">
                                  <a:solidFill>
                                    <a:srgbClr val="1B1C1D"/>
                                  </a:solidFill>
                                  <a:effectLst/>
                                  <a:latin typeface="Cambria Math" panose="02040503050406030204" pitchFamily="18" charset="0"/>
                                  <a:ea typeface="Google Sans Text"/>
                                  <a:cs typeface="Google Sans Text"/>
                                </a:rPr>
                                <m:t>2</m:t>
                              </m:r>
                            </m:sup>
                          </m:sSup>
                        </m:e>
                      </m:rad>
                    </m:oMath>
                    <m:oMath xmlns:m="http://schemas.openxmlformats.org/officeDocument/2006/math">
                      <m:sSub>
                        <m:sSubPr>
                          <m:ctrlPr>
                            <a:rPr lang="en-IN" sz="2600" i="1">
                              <a:solidFill>
                                <a:srgbClr val="1B1C1D"/>
                              </a:solidFill>
                              <a:effectLst/>
                              <a:latin typeface="Cambria Math" panose="02040503050406030204" pitchFamily="18" charset="0"/>
                              <a:ea typeface="Google Sans Text"/>
                              <a:cs typeface="Google Sans Text"/>
                            </a:rPr>
                          </m:ctrlPr>
                        </m:sSubPr>
                        <m:e>
                          <m:r>
                            <m:rPr>
                              <m:sty m:val="p"/>
                            </m:rPr>
                            <a:rPr lang="en-IN" sz="2600">
                              <a:solidFill>
                                <a:srgbClr val="1B1C1D"/>
                              </a:solidFill>
                              <a:effectLst/>
                              <a:latin typeface="Cambria Math" panose="02040503050406030204" pitchFamily="18" charset="0"/>
                              <a:ea typeface="Google Sans Text"/>
                              <a:cs typeface="Google Sans Text"/>
                            </a:rPr>
                            <m:t>θ</m:t>
                          </m:r>
                        </m:e>
                        <m:sub>
                          <m:r>
                            <a:rPr lang="en-IN" sz="2600" i="1">
                              <a:solidFill>
                                <a:srgbClr val="1B1C1D"/>
                              </a:solidFill>
                              <a:effectLst/>
                              <a:latin typeface="Cambria Math" panose="02040503050406030204" pitchFamily="18" charset="0"/>
                              <a:ea typeface="Google Sans Text"/>
                              <a:cs typeface="Google Sans Text"/>
                            </a:rPr>
                            <m:t>3</m:t>
                          </m:r>
                        </m:sub>
                      </m:sSub>
                      <m:r>
                        <a:rPr lang="en-IN" sz="2600" i="1">
                          <a:solidFill>
                            <a:srgbClr val="1B1C1D"/>
                          </a:solidFill>
                          <a:effectLst/>
                          <a:latin typeface="Cambria Math" panose="02040503050406030204" pitchFamily="18" charset="0"/>
                          <a:ea typeface="Google Sans Text"/>
                          <a:cs typeface="Google Sans Text"/>
                        </a:rPr>
                        <m:t>=</m:t>
                      </m:r>
                      <m:r>
                        <m:rPr>
                          <m:sty m:val="p"/>
                        </m:rPr>
                        <a:rPr lang="en-IN" sz="2600">
                          <a:solidFill>
                            <a:srgbClr val="1B1C1D"/>
                          </a:solidFill>
                          <a:effectLst/>
                          <a:latin typeface="Cambria Math" panose="02040503050406030204" pitchFamily="18" charset="0"/>
                          <a:ea typeface="Google Sans Text"/>
                          <a:cs typeface="Google Sans Text"/>
                        </a:rPr>
                        <m:t>π</m:t>
                      </m:r>
                      <m:r>
                        <a:rPr lang="en-IN" sz="2600" i="1">
                          <a:solidFill>
                            <a:srgbClr val="1B1C1D"/>
                          </a:solidFill>
                          <a:effectLst/>
                          <a:latin typeface="Cambria Math" panose="02040503050406030204" pitchFamily="18" charset="0"/>
                          <a:ea typeface="Google Sans Text"/>
                          <a:cs typeface="Google Sans Text"/>
                        </a:rPr>
                        <m:t>−</m:t>
                      </m:r>
                      <m:func>
                        <m:funcPr>
                          <m:ctrlPr>
                            <a:rPr lang="en-IN" sz="2600" i="1">
                              <a:solidFill>
                                <a:srgbClr val="1B1C1D"/>
                              </a:solidFill>
                              <a:effectLst/>
                              <a:latin typeface="Cambria Math" panose="02040503050406030204" pitchFamily="18" charset="0"/>
                              <a:ea typeface="Google Sans Text"/>
                              <a:cs typeface="Google Sans Text"/>
                            </a:rPr>
                          </m:ctrlPr>
                        </m:funcPr>
                        <m:fName>
                          <m:sSup>
                            <m:sSupPr>
                              <m:ctrlPr>
                                <a:rPr lang="en-IN" sz="2600" i="1">
                                  <a:solidFill>
                                    <a:srgbClr val="1B1C1D"/>
                                  </a:solidFill>
                                  <a:effectLst/>
                                  <a:latin typeface="Cambria Math" panose="02040503050406030204" pitchFamily="18" charset="0"/>
                                  <a:ea typeface="Google Sans Text"/>
                                  <a:cs typeface="Google Sans Text"/>
                                </a:rPr>
                              </m:ctrlPr>
                            </m:sSupPr>
                            <m:e>
                              <m:r>
                                <m:rPr>
                                  <m:sty m:val="p"/>
                                </m:rPr>
                                <a:rPr lang="en-IN" sz="2600">
                                  <a:solidFill>
                                    <a:srgbClr val="1B1C1D"/>
                                  </a:solidFill>
                                  <a:effectLst/>
                                  <a:latin typeface="Cambria Math" panose="02040503050406030204" pitchFamily="18" charset="0"/>
                                  <a:ea typeface="Google Sans Text"/>
                                  <a:cs typeface="Google Sans Text"/>
                                </a:rPr>
                                <m:t>cos</m:t>
                              </m:r>
                            </m:e>
                            <m:sup>
                              <m:r>
                                <a:rPr lang="en-IN" sz="2600" i="1">
                                  <a:solidFill>
                                    <a:srgbClr val="1B1C1D"/>
                                  </a:solidFill>
                                  <a:effectLst/>
                                  <a:latin typeface="Cambria Math" panose="02040503050406030204" pitchFamily="18" charset="0"/>
                                  <a:ea typeface="Google Sans Text"/>
                                  <a:cs typeface="Google Sans Text"/>
                                </a:rPr>
                                <m:t>−1</m:t>
                              </m:r>
                            </m:sup>
                          </m:sSup>
                        </m:fName>
                        <m:e>
                          <m:d>
                            <m:dPr>
                              <m:ctrlPr>
                                <a:rPr lang="en-IN" sz="2600" i="1">
                                  <a:solidFill>
                                    <a:srgbClr val="1B1C1D"/>
                                  </a:solidFill>
                                  <a:effectLst/>
                                  <a:latin typeface="Cambria Math" panose="02040503050406030204" pitchFamily="18" charset="0"/>
                                  <a:ea typeface="Google Sans Text"/>
                                  <a:cs typeface="Google Sans Text"/>
                                </a:rPr>
                              </m:ctrlPr>
                            </m:dPr>
                            <m:e>
                              <m:f>
                                <m:fPr>
                                  <m:ctrlPr>
                                    <a:rPr lang="en-IN" sz="2600" i="1">
                                      <a:solidFill>
                                        <a:srgbClr val="1B1C1D"/>
                                      </a:solidFill>
                                      <a:effectLst/>
                                      <a:latin typeface="Cambria Math" panose="02040503050406030204" pitchFamily="18" charset="0"/>
                                      <a:ea typeface="Google Sans Text"/>
                                      <a:cs typeface="Google Sans Text"/>
                                    </a:rPr>
                                  </m:ctrlPr>
                                </m:fPr>
                                <m:num>
                                  <m:sSubSup>
                                    <m:sSubSupPr>
                                      <m:ctrlPr>
                                        <a:rPr lang="en-IN" sz="2600" i="1">
                                          <a:solidFill>
                                            <a:srgbClr val="1B1C1D"/>
                                          </a:solidFill>
                                          <a:effectLst/>
                                          <a:latin typeface="Cambria Math" panose="02040503050406030204" pitchFamily="18" charset="0"/>
                                          <a:ea typeface="Google Sans Text"/>
                                          <a:cs typeface="Google Sans Text"/>
                                        </a:rPr>
                                      </m:ctrlPr>
                                    </m:sSubSup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2</m:t>
                                      </m:r>
                                    </m:sub>
                                    <m:sup>
                                      <m:r>
                                        <a:rPr lang="en-IN" sz="2600" i="1">
                                          <a:solidFill>
                                            <a:srgbClr val="1B1C1D"/>
                                          </a:solidFill>
                                          <a:effectLst/>
                                          <a:latin typeface="Cambria Math" panose="02040503050406030204" pitchFamily="18" charset="0"/>
                                          <a:ea typeface="Google Sans Text"/>
                                          <a:cs typeface="Google Sans Text"/>
                                        </a:rPr>
                                        <m:t>2</m:t>
                                      </m:r>
                                    </m:sup>
                                  </m:sSubSup>
                                  <m:r>
                                    <a:rPr lang="en-IN" sz="2600" i="1">
                                      <a:solidFill>
                                        <a:srgbClr val="1B1C1D"/>
                                      </a:solidFill>
                                      <a:effectLst/>
                                      <a:latin typeface="Cambria Math" panose="02040503050406030204" pitchFamily="18" charset="0"/>
                                      <a:ea typeface="Google Sans Text"/>
                                      <a:cs typeface="Google Sans Text"/>
                                    </a:rPr>
                                    <m:t>+</m:t>
                                  </m:r>
                                  <m:sSubSup>
                                    <m:sSubSupPr>
                                      <m:ctrlPr>
                                        <a:rPr lang="en-IN" sz="2600" i="1">
                                          <a:solidFill>
                                            <a:srgbClr val="1B1C1D"/>
                                          </a:solidFill>
                                          <a:effectLst/>
                                          <a:latin typeface="Cambria Math" panose="02040503050406030204" pitchFamily="18" charset="0"/>
                                          <a:ea typeface="Google Sans Text"/>
                                          <a:cs typeface="Google Sans Text"/>
                                        </a:rPr>
                                      </m:ctrlPr>
                                    </m:sSubSup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3</m:t>
                                      </m:r>
                                    </m:sub>
                                    <m:sup>
                                      <m:r>
                                        <a:rPr lang="en-IN" sz="2600" i="1">
                                          <a:solidFill>
                                            <a:srgbClr val="1B1C1D"/>
                                          </a:solidFill>
                                          <a:effectLst/>
                                          <a:latin typeface="Cambria Math" panose="02040503050406030204" pitchFamily="18" charset="0"/>
                                          <a:ea typeface="Google Sans Text"/>
                                          <a:cs typeface="Google Sans Text"/>
                                        </a:rPr>
                                        <m:t>2</m:t>
                                      </m:r>
                                    </m:sup>
                                  </m:sSubSup>
                                  <m:r>
                                    <a:rPr lang="en-IN" sz="2600" i="1">
                                      <a:solidFill>
                                        <a:srgbClr val="1B1C1D"/>
                                      </a:solidFill>
                                      <a:effectLst/>
                                      <a:latin typeface="Cambria Math" panose="02040503050406030204" pitchFamily="18" charset="0"/>
                                      <a:ea typeface="Google Sans Text"/>
                                      <a:cs typeface="Google Sans Text"/>
                                    </a:rPr>
                                    <m:t>−</m:t>
                                  </m:r>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𝑑</m:t>
                                      </m:r>
                                    </m:e>
                                    <m:sup>
                                      <m:r>
                                        <a:rPr lang="en-IN" sz="2600" i="1">
                                          <a:solidFill>
                                            <a:srgbClr val="1B1C1D"/>
                                          </a:solidFill>
                                          <a:effectLst/>
                                          <a:latin typeface="Cambria Math" panose="02040503050406030204" pitchFamily="18" charset="0"/>
                                          <a:ea typeface="Google Sans Text"/>
                                          <a:cs typeface="Google Sans Text"/>
                                        </a:rPr>
                                        <m:t>2</m:t>
                                      </m:r>
                                    </m:sup>
                                  </m:sSup>
                                </m:num>
                                <m:den>
                                  <m:r>
                                    <a:rPr lang="en-IN" sz="2600" i="1">
                                      <a:solidFill>
                                        <a:srgbClr val="1B1C1D"/>
                                      </a:solidFill>
                                      <a:effectLst/>
                                      <a:latin typeface="Cambria Math" panose="02040503050406030204" pitchFamily="18" charset="0"/>
                                      <a:ea typeface="Google Sans Text"/>
                                      <a:cs typeface="Google Sans Text"/>
                                    </a:rPr>
                                    <m:t>2</m:t>
                                  </m:r>
                                  <m:sSub>
                                    <m:sSubPr>
                                      <m:ctrlPr>
                                        <a:rPr lang="en-IN" sz="2600" i="1">
                                          <a:solidFill>
                                            <a:srgbClr val="1B1C1D"/>
                                          </a:solidFill>
                                          <a:effectLst/>
                                          <a:latin typeface="Cambria Math" panose="02040503050406030204" pitchFamily="18" charset="0"/>
                                          <a:ea typeface="Google Sans Text"/>
                                          <a:cs typeface="Google Sans Text"/>
                                        </a:rPr>
                                      </m:ctrlPr>
                                    </m:sSub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2</m:t>
                                      </m:r>
                                    </m:sub>
                                  </m:sSub>
                                  <m:sSub>
                                    <m:sSubPr>
                                      <m:ctrlPr>
                                        <a:rPr lang="en-IN" sz="2600" i="1">
                                          <a:solidFill>
                                            <a:srgbClr val="1B1C1D"/>
                                          </a:solidFill>
                                          <a:effectLst/>
                                          <a:latin typeface="Cambria Math" panose="02040503050406030204" pitchFamily="18" charset="0"/>
                                          <a:ea typeface="Google Sans Text"/>
                                          <a:cs typeface="Google Sans Text"/>
                                        </a:rPr>
                                      </m:ctrlPr>
                                    </m:sSub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3</m:t>
                                      </m:r>
                                    </m:sub>
                                  </m:sSub>
                                </m:den>
                              </m:f>
                            </m:e>
                          </m:d>
                        </m:e>
                      </m:func>
                    </m:oMath>
                    <m:oMath xmlns:m="http://schemas.openxmlformats.org/officeDocument/2006/math">
                      <m:sSub>
                        <m:sSubPr>
                          <m:ctrlPr>
                            <a:rPr lang="en-IN" sz="2600" i="1">
                              <a:solidFill>
                                <a:srgbClr val="1B1C1D"/>
                              </a:solidFill>
                              <a:effectLst/>
                              <a:latin typeface="Cambria Math" panose="02040503050406030204" pitchFamily="18" charset="0"/>
                              <a:ea typeface="Google Sans Text"/>
                              <a:cs typeface="Google Sans Text"/>
                            </a:rPr>
                          </m:ctrlPr>
                        </m:sSubPr>
                        <m:e>
                          <m:r>
                            <m:rPr>
                              <m:sty m:val="p"/>
                            </m:rPr>
                            <a:rPr lang="en-IN" sz="2600">
                              <a:solidFill>
                                <a:srgbClr val="1B1C1D"/>
                              </a:solidFill>
                              <a:effectLst/>
                              <a:latin typeface="Cambria Math" panose="02040503050406030204" pitchFamily="18" charset="0"/>
                              <a:ea typeface="Google Sans Text"/>
                              <a:cs typeface="Google Sans Text"/>
                            </a:rPr>
                            <m:t>θ</m:t>
                          </m:r>
                        </m:e>
                        <m:sub>
                          <m:r>
                            <a:rPr lang="en-IN" sz="2600" i="1">
                              <a:solidFill>
                                <a:srgbClr val="1B1C1D"/>
                              </a:solidFill>
                              <a:effectLst/>
                              <a:latin typeface="Cambria Math" panose="02040503050406030204" pitchFamily="18" charset="0"/>
                              <a:ea typeface="Google Sans Text"/>
                              <a:cs typeface="Google Sans Text"/>
                            </a:rPr>
                            <m:t>2</m:t>
                          </m:r>
                        </m:sub>
                      </m:sSub>
                      <m:r>
                        <a:rPr lang="en-IN" sz="2600" i="1">
                          <a:solidFill>
                            <a:srgbClr val="1B1C1D"/>
                          </a:solidFill>
                          <a:effectLst/>
                          <a:latin typeface="Cambria Math" panose="02040503050406030204" pitchFamily="18" charset="0"/>
                          <a:ea typeface="Google Sans Text"/>
                          <a:cs typeface="Google Sans Text"/>
                        </a:rPr>
                        <m:t>=</m:t>
                      </m:r>
                      <m:func>
                        <m:funcPr>
                          <m:ctrlPr>
                            <a:rPr lang="en-IN" sz="2600" i="1">
                              <a:solidFill>
                                <a:srgbClr val="1B1C1D"/>
                              </a:solidFill>
                              <a:effectLst/>
                              <a:latin typeface="Cambria Math" panose="02040503050406030204" pitchFamily="18" charset="0"/>
                              <a:ea typeface="Google Sans Text"/>
                              <a:cs typeface="Google Sans Text"/>
                            </a:rPr>
                          </m:ctrlPr>
                        </m:funcPr>
                        <m:fName>
                          <m:sSup>
                            <m:sSupPr>
                              <m:ctrlPr>
                                <a:rPr lang="en-IN" sz="2600" i="1">
                                  <a:solidFill>
                                    <a:srgbClr val="1B1C1D"/>
                                  </a:solidFill>
                                  <a:effectLst/>
                                  <a:latin typeface="Cambria Math" panose="02040503050406030204" pitchFamily="18" charset="0"/>
                                  <a:ea typeface="Google Sans Text"/>
                                  <a:cs typeface="Google Sans Text"/>
                                </a:rPr>
                              </m:ctrlPr>
                            </m:sSupPr>
                            <m:e>
                              <m:r>
                                <m:rPr>
                                  <m:sty m:val="p"/>
                                </m:rPr>
                                <a:rPr lang="en-IN" sz="2600">
                                  <a:solidFill>
                                    <a:srgbClr val="1B1C1D"/>
                                  </a:solidFill>
                                  <a:effectLst/>
                                  <a:latin typeface="Cambria Math" panose="02040503050406030204" pitchFamily="18" charset="0"/>
                                  <a:ea typeface="Google Sans Text"/>
                                  <a:cs typeface="Google Sans Text"/>
                                </a:rPr>
                                <m:t>tan</m:t>
                              </m:r>
                            </m:e>
                            <m:sup>
                              <m:r>
                                <a:rPr lang="en-IN" sz="2600" i="1">
                                  <a:solidFill>
                                    <a:srgbClr val="1B1C1D"/>
                                  </a:solidFill>
                                  <a:effectLst/>
                                  <a:latin typeface="Cambria Math" panose="02040503050406030204" pitchFamily="18" charset="0"/>
                                  <a:ea typeface="Google Sans Text"/>
                                  <a:cs typeface="Google Sans Text"/>
                                </a:rPr>
                                <m:t>−1</m:t>
                              </m:r>
                            </m:sup>
                          </m:sSup>
                        </m:fName>
                        <m:e>
                          <m:d>
                            <m:dPr>
                              <m:ctrlPr>
                                <a:rPr lang="en-IN" sz="2600" i="1">
                                  <a:solidFill>
                                    <a:srgbClr val="1B1C1D"/>
                                  </a:solidFill>
                                  <a:effectLst/>
                                  <a:latin typeface="Cambria Math" panose="02040503050406030204" pitchFamily="18" charset="0"/>
                                  <a:ea typeface="Google Sans Text"/>
                                  <a:cs typeface="Google Sans Text"/>
                                </a:rPr>
                              </m:ctrlPr>
                            </m:dPr>
                            <m:e>
                              <m:f>
                                <m:fPr>
                                  <m:ctrlPr>
                                    <a:rPr lang="en-IN" sz="2600" i="1">
                                      <a:solidFill>
                                        <a:srgbClr val="1B1C1D"/>
                                      </a:solidFill>
                                      <a:effectLst/>
                                      <a:latin typeface="Cambria Math" panose="02040503050406030204" pitchFamily="18" charset="0"/>
                                      <a:ea typeface="Google Sans Text"/>
                                      <a:cs typeface="Google Sans Text"/>
                                    </a:rPr>
                                  </m:ctrlPr>
                                </m:fPr>
                                <m:num>
                                  <m:r>
                                    <a:rPr lang="en-IN" sz="2600" i="1">
                                      <a:solidFill>
                                        <a:srgbClr val="1B1C1D"/>
                                      </a:solidFill>
                                      <a:effectLst/>
                                      <a:latin typeface="Cambria Math" panose="02040503050406030204" pitchFamily="18" charset="0"/>
                                      <a:ea typeface="Google Sans Text"/>
                                      <a:cs typeface="Google Sans Text"/>
                                    </a:rPr>
                                    <m:t>𝑍</m:t>
                                  </m:r>
                                </m:num>
                                <m:den>
                                  <m:r>
                                    <a:rPr lang="en-IN" sz="2600" i="1">
                                      <a:solidFill>
                                        <a:srgbClr val="1B1C1D"/>
                                      </a:solidFill>
                                      <a:effectLst/>
                                      <a:latin typeface="Cambria Math" panose="02040503050406030204" pitchFamily="18" charset="0"/>
                                      <a:ea typeface="Google Sans Text"/>
                                      <a:cs typeface="Google Sans Text"/>
                                    </a:rPr>
                                    <m:t>𝑟</m:t>
                                  </m:r>
                                </m:den>
                              </m:f>
                            </m:e>
                          </m:d>
                        </m:e>
                      </m:func>
                      <m:r>
                        <a:rPr lang="en-IN" sz="2600" i="1">
                          <a:solidFill>
                            <a:srgbClr val="1B1C1D"/>
                          </a:solidFill>
                          <a:effectLst/>
                          <a:latin typeface="Cambria Math" panose="02040503050406030204" pitchFamily="18" charset="0"/>
                          <a:ea typeface="Google Sans Text"/>
                          <a:cs typeface="Google Sans Text"/>
                        </a:rPr>
                        <m:t>+</m:t>
                      </m:r>
                      <m:func>
                        <m:funcPr>
                          <m:ctrlPr>
                            <a:rPr lang="en-IN" sz="2600" i="1">
                              <a:solidFill>
                                <a:srgbClr val="1B1C1D"/>
                              </a:solidFill>
                              <a:effectLst/>
                              <a:latin typeface="Cambria Math" panose="02040503050406030204" pitchFamily="18" charset="0"/>
                              <a:ea typeface="Google Sans Text"/>
                              <a:cs typeface="Google Sans Text"/>
                            </a:rPr>
                          </m:ctrlPr>
                        </m:funcPr>
                        <m:fName>
                          <m:sSup>
                            <m:sSupPr>
                              <m:ctrlPr>
                                <a:rPr lang="en-IN" sz="2600" i="1">
                                  <a:solidFill>
                                    <a:srgbClr val="1B1C1D"/>
                                  </a:solidFill>
                                  <a:effectLst/>
                                  <a:latin typeface="Cambria Math" panose="02040503050406030204" pitchFamily="18" charset="0"/>
                                  <a:ea typeface="Google Sans Text"/>
                                  <a:cs typeface="Google Sans Text"/>
                                </a:rPr>
                              </m:ctrlPr>
                            </m:sSupPr>
                            <m:e>
                              <m:r>
                                <m:rPr>
                                  <m:sty m:val="p"/>
                                </m:rPr>
                                <a:rPr lang="en-IN" sz="2600">
                                  <a:solidFill>
                                    <a:srgbClr val="1B1C1D"/>
                                  </a:solidFill>
                                  <a:effectLst/>
                                  <a:latin typeface="Cambria Math" panose="02040503050406030204" pitchFamily="18" charset="0"/>
                                  <a:ea typeface="Google Sans Text"/>
                                  <a:cs typeface="Google Sans Text"/>
                                </a:rPr>
                                <m:t>cos</m:t>
                              </m:r>
                            </m:e>
                            <m:sup>
                              <m:r>
                                <a:rPr lang="en-IN" sz="2600" i="1">
                                  <a:solidFill>
                                    <a:srgbClr val="1B1C1D"/>
                                  </a:solidFill>
                                  <a:effectLst/>
                                  <a:latin typeface="Cambria Math" panose="02040503050406030204" pitchFamily="18" charset="0"/>
                                  <a:ea typeface="Google Sans Text"/>
                                  <a:cs typeface="Google Sans Text"/>
                                </a:rPr>
                                <m:t>−1</m:t>
                              </m:r>
                            </m:sup>
                          </m:sSup>
                        </m:fName>
                        <m:e>
                          <m:d>
                            <m:dPr>
                              <m:ctrlPr>
                                <a:rPr lang="en-IN" sz="2600" i="1">
                                  <a:solidFill>
                                    <a:srgbClr val="1B1C1D"/>
                                  </a:solidFill>
                                  <a:effectLst/>
                                  <a:latin typeface="Cambria Math" panose="02040503050406030204" pitchFamily="18" charset="0"/>
                                  <a:ea typeface="Google Sans Text"/>
                                  <a:cs typeface="Google Sans Text"/>
                                </a:rPr>
                              </m:ctrlPr>
                            </m:dPr>
                            <m:e>
                              <m:f>
                                <m:fPr>
                                  <m:ctrlPr>
                                    <a:rPr lang="en-IN" sz="2600" i="1">
                                      <a:solidFill>
                                        <a:srgbClr val="1B1C1D"/>
                                      </a:solidFill>
                                      <a:effectLst/>
                                      <a:latin typeface="Cambria Math" panose="02040503050406030204" pitchFamily="18" charset="0"/>
                                      <a:ea typeface="Google Sans Text"/>
                                      <a:cs typeface="Google Sans Text"/>
                                    </a:rPr>
                                  </m:ctrlPr>
                                </m:fPr>
                                <m:num>
                                  <m:sSubSup>
                                    <m:sSubSupPr>
                                      <m:ctrlPr>
                                        <a:rPr lang="en-IN" sz="2600" i="1">
                                          <a:solidFill>
                                            <a:srgbClr val="1B1C1D"/>
                                          </a:solidFill>
                                          <a:effectLst/>
                                          <a:latin typeface="Cambria Math" panose="02040503050406030204" pitchFamily="18" charset="0"/>
                                          <a:ea typeface="Google Sans Text"/>
                                          <a:cs typeface="Google Sans Text"/>
                                        </a:rPr>
                                      </m:ctrlPr>
                                    </m:sSubSup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2</m:t>
                                      </m:r>
                                    </m:sub>
                                    <m:sup>
                                      <m:r>
                                        <a:rPr lang="en-IN" sz="2600" i="1">
                                          <a:solidFill>
                                            <a:srgbClr val="1B1C1D"/>
                                          </a:solidFill>
                                          <a:effectLst/>
                                          <a:latin typeface="Cambria Math" panose="02040503050406030204" pitchFamily="18" charset="0"/>
                                          <a:ea typeface="Google Sans Text"/>
                                          <a:cs typeface="Google Sans Text"/>
                                        </a:rPr>
                                        <m:t>2</m:t>
                                      </m:r>
                                    </m:sup>
                                  </m:sSubSup>
                                  <m:r>
                                    <a:rPr lang="en-IN" sz="2600" i="1">
                                      <a:solidFill>
                                        <a:srgbClr val="1B1C1D"/>
                                      </a:solidFill>
                                      <a:effectLst/>
                                      <a:latin typeface="Cambria Math" panose="02040503050406030204" pitchFamily="18" charset="0"/>
                                      <a:ea typeface="Google Sans Text"/>
                                      <a:cs typeface="Google Sans Text"/>
                                    </a:rPr>
                                    <m:t>+</m:t>
                                  </m:r>
                                  <m:sSup>
                                    <m:sSupPr>
                                      <m:ctrlPr>
                                        <a:rPr lang="en-IN" sz="2600" i="1">
                                          <a:solidFill>
                                            <a:srgbClr val="1B1C1D"/>
                                          </a:solidFill>
                                          <a:effectLst/>
                                          <a:latin typeface="Cambria Math" panose="02040503050406030204" pitchFamily="18" charset="0"/>
                                          <a:ea typeface="Google Sans Text"/>
                                          <a:cs typeface="Google Sans Text"/>
                                        </a:rPr>
                                      </m:ctrlPr>
                                    </m:sSupPr>
                                    <m:e>
                                      <m:r>
                                        <a:rPr lang="en-IN" sz="2600" i="1">
                                          <a:solidFill>
                                            <a:srgbClr val="1B1C1D"/>
                                          </a:solidFill>
                                          <a:effectLst/>
                                          <a:latin typeface="Cambria Math" panose="02040503050406030204" pitchFamily="18" charset="0"/>
                                          <a:ea typeface="Google Sans Text"/>
                                          <a:cs typeface="Google Sans Text"/>
                                        </a:rPr>
                                        <m:t>𝑑</m:t>
                                      </m:r>
                                    </m:e>
                                    <m:sup>
                                      <m:r>
                                        <a:rPr lang="en-IN" sz="2600" i="1">
                                          <a:solidFill>
                                            <a:srgbClr val="1B1C1D"/>
                                          </a:solidFill>
                                          <a:effectLst/>
                                          <a:latin typeface="Cambria Math" panose="02040503050406030204" pitchFamily="18" charset="0"/>
                                          <a:ea typeface="Google Sans Text"/>
                                          <a:cs typeface="Google Sans Text"/>
                                        </a:rPr>
                                        <m:t>2</m:t>
                                      </m:r>
                                    </m:sup>
                                  </m:sSup>
                                  <m:r>
                                    <a:rPr lang="en-IN" sz="2600" i="1">
                                      <a:solidFill>
                                        <a:srgbClr val="1B1C1D"/>
                                      </a:solidFill>
                                      <a:effectLst/>
                                      <a:latin typeface="Cambria Math" panose="02040503050406030204" pitchFamily="18" charset="0"/>
                                      <a:ea typeface="Google Sans Text"/>
                                      <a:cs typeface="Google Sans Text"/>
                                    </a:rPr>
                                    <m:t>−</m:t>
                                  </m:r>
                                  <m:sSubSup>
                                    <m:sSubSupPr>
                                      <m:ctrlPr>
                                        <a:rPr lang="en-IN" sz="2600" i="1">
                                          <a:solidFill>
                                            <a:srgbClr val="1B1C1D"/>
                                          </a:solidFill>
                                          <a:effectLst/>
                                          <a:latin typeface="Cambria Math" panose="02040503050406030204" pitchFamily="18" charset="0"/>
                                          <a:ea typeface="Google Sans Text"/>
                                          <a:cs typeface="Google Sans Text"/>
                                        </a:rPr>
                                      </m:ctrlPr>
                                    </m:sSubSup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3</m:t>
                                      </m:r>
                                    </m:sub>
                                    <m:sup>
                                      <m:r>
                                        <a:rPr lang="en-IN" sz="2600" i="1">
                                          <a:solidFill>
                                            <a:srgbClr val="1B1C1D"/>
                                          </a:solidFill>
                                          <a:effectLst/>
                                          <a:latin typeface="Cambria Math" panose="02040503050406030204" pitchFamily="18" charset="0"/>
                                          <a:ea typeface="Google Sans Text"/>
                                          <a:cs typeface="Google Sans Text"/>
                                        </a:rPr>
                                        <m:t>2</m:t>
                                      </m:r>
                                    </m:sup>
                                  </m:sSubSup>
                                </m:num>
                                <m:den>
                                  <m:r>
                                    <a:rPr lang="en-IN" sz="2600" i="1">
                                      <a:solidFill>
                                        <a:srgbClr val="1B1C1D"/>
                                      </a:solidFill>
                                      <a:effectLst/>
                                      <a:latin typeface="Cambria Math" panose="02040503050406030204" pitchFamily="18" charset="0"/>
                                      <a:ea typeface="Google Sans Text"/>
                                      <a:cs typeface="Google Sans Text"/>
                                    </a:rPr>
                                    <m:t>2</m:t>
                                  </m:r>
                                  <m:sSub>
                                    <m:sSubPr>
                                      <m:ctrlPr>
                                        <a:rPr lang="en-IN" sz="2600" i="1">
                                          <a:solidFill>
                                            <a:srgbClr val="1B1C1D"/>
                                          </a:solidFill>
                                          <a:effectLst/>
                                          <a:latin typeface="Cambria Math" panose="02040503050406030204" pitchFamily="18" charset="0"/>
                                          <a:ea typeface="Google Sans Text"/>
                                          <a:cs typeface="Google Sans Text"/>
                                        </a:rPr>
                                      </m:ctrlPr>
                                    </m:sSubPr>
                                    <m:e>
                                      <m:r>
                                        <a:rPr lang="en-IN" sz="2600" i="1">
                                          <a:solidFill>
                                            <a:srgbClr val="1B1C1D"/>
                                          </a:solidFill>
                                          <a:effectLst/>
                                          <a:latin typeface="Cambria Math" panose="02040503050406030204" pitchFamily="18" charset="0"/>
                                          <a:ea typeface="Google Sans Text"/>
                                          <a:cs typeface="Google Sans Text"/>
                                        </a:rPr>
                                        <m:t>𝐿</m:t>
                                      </m:r>
                                    </m:e>
                                    <m:sub>
                                      <m:r>
                                        <a:rPr lang="en-IN" sz="2600" i="1">
                                          <a:solidFill>
                                            <a:srgbClr val="1B1C1D"/>
                                          </a:solidFill>
                                          <a:effectLst/>
                                          <a:latin typeface="Cambria Math" panose="02040503050406030204" pitchFamily="18" charset="0"/>
                                          <a:ea typeface="Google Sans Text"/>
                                          <a:cs typeface="Google Sans Text"/>
                                        </a:rPr>
                                        <m:t>2</m:t>
                                      </m:r>
                                    </m:sub>
                                  </m:sSub>
                                  <m:r>
                                    <a:rPr lang="en-IN" sz="2600" i="1">
                                      <a:solidFill>
                                        <a:srgbClr val="1B1C1D"/>
                                      </a:solidFill>
                                      <a:effectLst/>
                                      <a:latin typeface="Cambria Math" panose="02040503050406030204" pitchFamily="18" charset="0"/>
                                      <a:ea typeface="Google Sans Text"/>
                                      <a:cs typeface="Google Sans Text"/>
                                    </a:rPr>
                                    <m:t>𝑑</m:t>
                                  </m:r>
                                </m:den>
                              </m:f>
                            </m:e>
                          </m:d>
                        </m:e>
                      </m:func>
                    </m:oMath>
                  </m:oMathPara>
                </a14:m>
                <a:endParaRPr lang="en-IN" sz="2600" dirty="0"/>
              </a:p>
            </p:txBody>
          </p:sp>
        </mc:Choice>
        <mc:Fallback xmlns="">
          <p:sp>
            <p:nvSpPr>
              <p:cNvPr id="30" name="TextBox 29">
                <a:extLst>
                  <a:ext uri="{FF2B5EF4-FFF2-40B4-BE49-F238E27FC236}">
                    <a16:creationId xmlns:a16="http://schemas.microsoft.com/office/drawing/2014/main" id="{5B0280A0-593F-B9F9-8014-62646E7AC792}"/>
                  </a:ext>
                </a:extLst>
              </p:cNvPr>
              <p:cNvSpPr txBox="1">
                <a:spLocks noRot="1" noChangeAspect="1" noMove="1" noResize="1" noEditPoints="1" noAdjustHandles="1" noChangeArrowheads="1" noChangeShapeType="1" noTextEdit="1"/>
              </p:cNvSpPr>
              <p:nvPr/>
            </p:nvSpPr>
            <p:spPr>
              <a:xfrm>
                <a:off x="16475608" y="14467985"/>
                <a:ext cx="6574606" cy="4483663"/>
              </a:xfrm>
              <a:prstGeom prst="rect">
                <a:avLst/>
              </a:prstGeom>
              <a:blipFill>
                <a:blip r:embed="rId15"/>
                <a:stretch>
                  <a:fillRect/>
                </a:stretch>
              </a:blipFill>
            </p:spPr>
            <p:txBody>
              <a:bodyPr/>
              <a:lstStyle/>
              <a:p>
                <a:r>
                  <a:rPr lang="en-US">
                    <a:noFill/>
                  </a:rPr>
                  <a:t> </a:t>
                </a:r>
              </a:p>
            </p:txBody>
          </p:sp>
        </mc:Fallback>
      </mc:AlternateContent>
      <p:pic>
        <p:nvPicPr>
          <p:cNvPr id="38" name="Picture 37">
            <a:extLst>
              <a:ext uri="{FF2B5EF4-FFF2-40B4-BE49-F238E27FC236}">
                <a16:creationId xmlns:a16="http://schemas.microsoft.com/office/drawing/2014/main" id="{B415632F-BA3F-6CD2-FC14-E5B43D81C5AF}"/>
              </a:ext>
            </a:extLst>
          </p:cNvPr>
          <p:cNvPicPr>
            <a:picLocks noChangeAspect="1"/>
          </p:cNvPicPr>
          <p:nvPr/>
        </p:nvPicPr>
        <p:blipFill>
          <a:blip r:embed="rId16"/>
          <a:stretch>
            <a:fillRect/>
          </a:stretch>
        </p:blipFill>
        <p:spPr>
          <a:xfrm>
            <a:off x="22532062" y="16514734"/>
            <a:ext cx="3863457" cy="2201642"/>
          </a:xfrm>
          <a:prstGeom prst="rect">
            <a:avLst/>
          </a:prstGeom>
        </p:spPr>
      </p:pic>
      <p:pic>
        <p:nvPicPr>
          <p:cNvPr id="40" name="Picture 39" descr="A person with long hair wearing a blue shirt&#10;&#10;AI-generated content may be incorrect.">
            <a:extLst>
              <a:ext uri="{FF2B5EF4-FFF2-40B4-BE49-F238E27FC236}">
                <a16:creationId xmlns:a16="http://schemas.microsoft.com/office/drawing/2014/main" id="{99C432CB-7AFF-F983-D268-5D7D4BC13D95}"/>
              </a:ext>
            </a:extLst>
          </p:cNvPr>
          <p:cNvPicPr>
            <a:picLocks noChangeAspect="1"/>
          </p:cNvPicPr>
          <p:nvPr/>
        </p:nvPicPr>
        <p:blipFill>
          <a:blip r:embed="rId17"/>
          <a:stretch>
            <a:fillRect/>
          </a:stretch>
        </p:blipFill>
        <p:spPr>
          <a:xfrm>
            <a:off x="23958031" y="38095357"/>
            <a:ext cx="1917483" cy="1925506"/>
          </a:xfrm>
          <a:prstGeom prst="rect">
            <a:avLst/>
          </a:prstGeom>
        </p:spPr>
      </p:pic>
      <p:pic>
        <p:nvPicPr>
          <p:cNvPr id="44" name="Picture 43" descr="A black robot with wires&#10;&#10;AI-generated content may be incorrect.">
            <a:extLst>
              <a:ext uri="{FF2B5EF4-FFF2-40B4-BE49-F238E27FC236}">
                <a16:creationId xmlns:a16="http://schemas.microsoft.com/office/drawing/2014/main" id="{FB9001D2-7645-D8F2-0050-816EAFC26EF6}"/>
              </a:ext>
            </a:extLst>
          </p:cNvPr>
          <p:cNvPicPr>
            <a:picLocks noChangeAspect="1"/>
          </p:cNvPicPr>
          <p:nvPr/>
        </p:nvPicPr>
        <p:blipFill>
          <a:blip r:embed="rId18"/>
          <a:stretch>
            <a:fillRect/>
          </a:stretch>
        </p:blipFill>
        <p:spPr>
          <a:xfrm rot="16200000">
            <a:off x="19924199" y="29385828"/>
            <a:ext cx="4132293" cy="5509724"/>
          </a:xfrm>
          <a:prstGeom prst="rect">
            <a:avLst/>
          </a:prstGeom>
        </p:spPr>
      </p:pic>
      <p:pic>
        <p:nvPicPr>
          <p:cNvPr id="48" name="Picture 47" descr="A close-up of a robot&#10;&#10;AI-generated content may be incorrect.">
            <a:extLst>
              <a:ext uri="{FF2B5EF4-FFF2-40B4-BE49-F238E27FC236}">
                <a16:creationId xmlns:a16="http://schemas.microsoft.com/office/drawing/2014/main" id="{F23CA8F2-D1A4-72FC-3D32-4C42103897A7}"/>
              </a:ext>
            </a:extLst>
          </p:cNvPr>
          <p:cNvPicPr>
            <a:picLocks noChangeAspect="1"/>
          </p:cNvPicPr>
          <p:nvPr/>
        </p:nvPicPr>
        <p:blipFill>
          <a:blip r:embed="rId19"/>
          <a:stretch>
            <a:fillRect/>
          </a:stretch>
        </p:blipFill>
        <p:spPr>
          <a:xfrm>
            <a:off x="24463791" y="30269751"/>
            <a:ext cx="4689975" cy="3919640"/>
          </a:xfrm>
          <a:prstGeom prst="rect">
            <a:avLst/>
          </a:prstGeom>
        </p:spPr>
      </p:pic>
      <p:pic>
        <p:nvPicPr>
          <p:cNvPr id="1028" name="Picture 4" descr="profile image">
            <a:extLst>
              <a:ext uri="{FF2B5EF4-FFF2-40B4-BE49-F238E27FC236}">
                <a16:creationId xmlns:a16="http://schemas.microsoft.com/office/drawing/2014/main" id="{B5C3B73E-6BA5-1791-94E5-04EB17EF43F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153467" y="38035729"/>
            <a:ext cx="1900648" cy="190064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A person smiling at camera&#10;&#10;AI-generated content may be incorrect.">
            <a:extLst>
              <a:ext uri="{FF2B5EF4-FFF2-40B4-BE49-F238E27FC236}">
                <a16:creationId xmlns:a16="http://schemas.microsoft.com/office/drawing/2014/main" id="{8125F3F7-BCB7-121A-6AD5-D496AE8D5321}"/>
              </a:ext>
            </a:extLst>
          </p:cNvPr>
          <p:cNvPicPr>
            <a:picLocks noChangeAspect="1"/>
          </p:cNvPicPr>
          <p:nvPr/>
        </p:nvPicPr>
        <p:blipFill>
          <a:blip r:embed="rId21"/>
          <a:stretch>
            <a:fillRect/>
          </a:stretch>
        </p:blipFill>
        <p:spPr>
          <a:xfrm>
            <a:off x="24037926" y="35625990"/>
            <a:ext cx="1755326" cy="1941075"/>
          </a:xfrm>
          <a:prstGeom prst="rect">
            <a:avLst/>
          </a:prstGeom>
        </p:spPr>
      </p:pic>
      <p:pic>
        <p:nvPicPr>
          <p:cNvPr id="15" name="Picture 14">
            <a:extLst>
              <a:ext uri="{FF2B5EF4-FFF2-40B4-BE49-F238E27FC236}">
                <a16:creationId xmlns:a16="http://schemas.microsoft.com/office/drawing/2014/main" id="{227388ED-AC3F-61A2-3D64-52E675707C1F}"/>
              </a:ext>
            </a:extLst>
          </p:cNvPr>
          <p:cNvPicPr>
            <a:picLocks noChangeAspect="1"/>
          </p:cNvPicPr>
          <p:nvPr/>
        </p:nvPicPr>
        <p:blipFill>
          <a:blip r:embed="rId22"/>
          <a:stretch>
            <a:fillRect/>
          </a:stretch>
        </p:blipFill>
        <p:spPr>
          <a:xfrm>
            <a:off x="2327295" y="12886331"/>
            <a:ext cx="13531919" cy="5235968"/>
          </a:xfrm>
          <a:prstGeom prst="rect">
            <a:avLst/>
          </a:prstGeom>
        </p:spPr>
      </p:pic>
      <p:pic>
        <p:nvPicPr>
          <p:cNvPr id="22" name="Picture 21">
            <a:extLst>
              <a:ext uri="{FF2B5EF4-FFF2-40B4-BE49-F238E27FC236}">
                <a16:creationId xmlns:a16="http://schemas.microsoft.com/office/drawing/2014/main" id="{597CE88D-6332-1976-CADB-240C470F329F}"/>
              </a:ext>
            </a:extLst>
          </p:cNvPr>
          <p:cNvPicPr>
            <a:picLocks noChangeAspect="1"/>
          </p:cNvPicPr>
          <p:nvPr/>
        </p:nvPicPr>
        <p:blipFill>
          <a:blip r:embed="rId23"/>
          <a:stretch>
            <a:fillRect/>
          </a:stretch>
        </p:blipFill>
        <p:spPr>
          <a:xfrm>
            <a:off x="11277668" y="27810592"/>
            <a:ext cx="7334932" cy="5031669"/>
          </a:xfrm>
          <a:prstGeom prst="rect">
            <a:avLst/>
          </a:prstGeom>
        </p:spPr>
      </p:pic>
      <p:pic>
        <p:nvPicPr>
          <p:cNvPr id="26" name="Picture 25">
            <a:extLst>
              <a:ext uri="{FF2B5EF4-FFF2-40B4-BE49-F238E27FC236}">
                <a16:creationId xmlns:a16="http://schemas.microsoft.com/office/drawing/2014/main" id="{28FE4F77-34CB-4439-558F-24E881510A79}"/>
              </a:ext>
            </a:extLst>
          </p:cNvPr>
          <p:cNvPicPr>
            <a:picLocks noChangeAspect="1"/>
          </p:cNvPicPr>
          <p:nvPr/>
        </p:nvPicPr>
        <p:blipFill>
          <a:blip r:embed="rId24"/>
          <a:stretch>
            <a:fillRect/>
          </a:stretch>
        </p:blipFill>
        <p:spPr>
          <a:xfrm>
            <a:off x="22988933" y="27152493"/>
            <a:ext cx="6170845" cy="3143274"/>
          </a:xfrm>
          <a:prstGeom prst="rect">
            <a:avLst/>
          </a:prstGeom>
        </p:spPr>
      </p:pic>
    </p:spTree>
  </p:cSld>
  <p:clrMapOvr>
    <a:masterClrMapping/>
  </p:clrMapOvr>
</p:sld>
</file>

<file path=ppt/theme/theme1.xml><?xml version="1.0" encoding="utf-8"?>
<a:theme xmlns:a="http://schemas.openxmlformats.org/drawingml/2006/main" name="Office-Design">
  <a:themeElements>
    <a:clrScheme name="Benutzerdefiniert 46">
      <a:dk1>
        <a:sysClr val="windowText" lastClr="000000"/>
      </a:dk1>
      <a:lt1>
        <a:sysClr val="window" lastClr="FFFFFF"/>
      </a:lt1>
      <a:dk2>
        <a:srgbClr val="94C12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3822</TotalTime>
  <Words>1111</Words>
  <Application>Microsoft Office PowerPoint</Application>
  <PresentationFormat>Custom</PresentationFormat>
  <Paragraphs>87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 Math</vt:lpstr>
      <vt:lpstr>Lucida Sans Bold</vt:lpstr>
      <vt:lpstr>Times New Roman</vt:lpstr>
      <vt:lpstr>Wingdings</vt:lpstr>
      <vt:lpstr>Office-Design</vt:lpstr>
      <vt:lpstr>Design and Development of a 3D-Printed Hexapod Robot for Terrain-Adaptive Locomotion and Autonomous Navigation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Bilal Sabugar</cp:lastModifiedBy>
  <cp:revision>29</cp:revision>
  <dcterms:created xsi:type="dcterms:W3CDTF">2012-01-25T14:50:03Z</dcterms:created>
  <dcterms:modified xsi:type="dcterms:W3CDTF">2025-11-24T11:11:13Z</dcterms:modified>
</cp:coreProperties>
</file>